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565" r:id="rId6"/>
    <p:sldId id="266" r:id="rId7"/>
    <p:sldId id="567" r:id="rId8"/>
    <p:sldId id="260" r:id="rId9"/>
    <p:sldId id="261" r:id="rId10"/>
    <p:sldId id="564" r:id="rId11"/>
    <p:sldId id="265" r:id="rId12"/>
    <p:sldId id="263" r:id="rId13"/>
    <p:sldId id="568" r:id="rId14"/>
    <p:sldId id="264" r:id="rId15"/>
    <p:sldId id="566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ruton, Kiden" userId="82fd0fb9-6bef-4bc0-97d6-a5569a4ff273" providerId="ADAL" clId="{7827784B-1CC4-43F4-93B6-51BC5F4274EC}"/>
    <pc:docChg chg="undo custSel addSld modSld">
      <pc:chgData name="Scruton, Kiden" userId="82fd0fb9-6bef-4bc0-97d6-a5569a4ff273" providerId="ADAL" clId="{7827784B-1CC4-43F4-93B6-51BC5F4274EC}" dt="2025-05-14T01:43:49.554" v="1818" actId="14100"/>
      <pc:docMkLst>
        <pc:docMk/>
      </pc:docMkLst>
      <pc:sldChg chg="modSp mod">
        <pc:chgData name="Scruton, Kiden" userId="82fd0fb9-6bef-4bc0-97d6-a5569a4ff273" providerId="ADAL" clId="{7827784B-1CC4-43F4-93B6-51BC5F4274EC}" dt="2025-05-12T20:04:06.198" v="30" actId="14100"/>
        <pc:sldMkLst>
          <pc:docMk/>
          <pc:sldMk cId="0" sldId="256"/>
        </pc:sldMkLst>
      </pc:sldChg>
      <pc:sldChg chg="addSp delSp modSp mod">
        <pc:chgData name="Scruton, Kiden" userId="82fd0fb9-6bef-4bc0-97d6-a5569a4ff273" providerId="ADAL" clId="{7827784B-1CC4-43F4-93B6-51BC5F4274EC}" dt="2025-05-12T23:02:10.013" v="1767" actId="478"/>
        <pc:sldMkLst>
          <pc:docMk/>
          <pc:sldMk cId="0" sldId="263"/>
        </pc:sldMkLst>
      </pc:sldChg>
      <pc:sldChg chg="addSp delSp modSp add mod">
        <pc:chgData name="Scruton, Kiden" userId="82fd0fb9-6bef-4bc0-97d6-a5569a4ff273" providerId="ADAL" clId="{7827784B-1CC4-43F4-93B6-51BC5F4274EC}" dt="2025-05-12T20:42:51.608" v="211" actId="14100"/>
        <pc:sldMkLst>
          <pc:docMk/>
          <pc:sldMk cId="2726653721" sldId="564"/>
        </pc:sldMkLst>
      </pc:sldChg>
      <pc:sldChg chg="addSp delSp modSp new mod">
        <pc:chgData name="Scruton, Kiden" userId="82fd0fb9-6bef-4bc0-97d6-a5569a4ff273" providerId="ADAL" clId="{7827784B-1CC4-43F4-93B6-51BC5F4274EC}" dt="2025-05-12T21:09:40.088" v="1325" actId="1076"/>
        <pc:sldMkLst>
          <pc:docMk/>
          <pc:sldMk cId="846305059" sldId="565"/>
        </pc:sldMkLst>
      </pc:sldChg>
      <pc:sldChg chg="addSp delSp modSp mod">
        <pc:chgData name="Scruton, Kiden" userId="82fd0fb9-6bef-4bc0-97d6-a5569a4ff273" providerId="ADAL" clId="{7827784B-1CC4-43F4-93B6-51BC5F4274EC}" dt="2025-05-12T22:49:33.593" v="1629" actId="1076"/>
        <pc:sldMkLst>
          <pc:docMk/>
          <pc:sldMk cId="2313864970" sldId="567"/>
        </pc:sldMkLst>
      </pc:sldChg>
      <pc:sldChg chg="addSp delSp modSp add mod">
        <pc:chgData name="Scruton, Kiden" userId="82fd0fb9-6bef-4bc0-97d6-a5569a4ff273" providerId="ADAL" clId="{7827784B-1CC4-43F4-93B6-51BC5F4274EC}" dt="2025-05-14T01:43:49.554" v="1818" actId="14100"/>
        <pc:sldMkLst>
          <pc:docMk/>
          <pc:sldMk cId="2631181315" sldId="568"/>
        </pc:sldMkLst>
      </pc:sldChg>
    </pc:docChg>
  </pc:docChgLst>
  <pc:docChgLst>
    <pc:chgData name="Scruton, Kiden" userId="82fd0fb9-6bef-4bc0-97d6-a5569a4ff273" providerId="ADAL" clId="{C0473BBC-BF72-4892-8452-E7254C9EAF19}"/>
    <pc:docChg chg="modSld">
      <pc:chgData name="Scruton, Kiden" userId="82fd0fb9-6bef-4bc0-97d6-a5569a4ff273" providerId="ADAL" clId="{C0473BBC-BF72-4892-8452-E7254C9EAF19}" dt="2025-10-07T19:26:02.609" v="1" actId="1076"/>
      <pc:docMkLst>
        <pc:docMk/>
      </pc:docMkLst>
      <pc:sldChg chg="modSp mod">
        <pc:chgData name="Scruton, Kiden" userId="82fd0fb9-6bef-4bc0-97d6-a5569a4ff273" providerId="ADAL" clId="{C0473BBC-BF72-4892-8452-E7254C9EAF19}" dt="2025-10-07T19:26:02.609" v="1" actId="1076"/>
        <pc:sldMkLst>
          <pc:docMk/>
          <pc:sldMk cId="0" sldId="260"/>
        </pc:sldMkLst>
        <pc:picChg chg="mod">
          <ac:chgData name="Scruton, Kiden" userId="82fd0fb9-6bef-4bc0-97d6-a5569a4ff273" providerId="ADAL" clId="{C0473BBC-BF72-4892-8452-E7254C9EAF19}" dt="2025-10-07T19:26:02.609" v="1" actId="1076"/>
          <ac:picMkLst>
            <pc:docMk/>
            <pc:sldMk cId="0" sldId="260"/>
            <ac:picMk id="6" creationId="{53A042FE-A71A-3FC7-8907-5D2756190156}"/>
          </ac:picMkLst>
        </pc:picChg>
      </pc:sldChg>
    </pc:docChg>
  </pc:docChgLst>
  <pc:docChgLst>
    <pc:chgData name="Jerome, Wilondja" userId="S::wjerome@hartford.edu::81706437-7cbe-48f6-b474-7011bd3eb50f" providerId="AD" clId="Web-{2DF87A76-9CEB-25BC-F1E6-5B463A2DCC42}"/>
    <pc:docChg chg="addSld modSld">
      <pc:chgData name="Jerome, Wilondja" userId="S::wjerome@hartford.edu::81706437-7cbe-48f6-b474-7011bd3eb50f" providerId="AD" clId="Web-{2DF87A76-9CEB-25BC-F1E6-5B463A2DCC42}" dt="2025-05-12T21:55:37.287" v="90"/>
      <pc:docMkLst>
        <pc:docMk/>
      </pc:docMkLst>
      <pc:sldChg chg="modSp">
        <pc:chgData name="Jerome, Wilondja" userId="S::wjerome@hartford.edu::81706437-7cbe-48f6-b474-7011bd3eb50f" providerId="AD" clId="Web-{2DF87A76-9CEB-25BC-F1E6-5B463A2DCC42}" dt="2025-05-12T21:35:37.053" v="68" actId="20577"/>
        <pc:sldMkLst>
          <pc:docMk/>
          <pc:sldMk cId="1639608621" sldId="266"/>
        </pc:sldMkLst>
      </pc:sldChg>
      <pc:sldChg chg="addSp delSp modSp new mod setBg">
        <pc:chgData name="Jerome, Wilondja" userId="S::wjerome@hartford.edu::81706437-7cbe-48f6-b474-7011bd3eb50f" providerId="AD" clId="Web-{2DF87A76-9CEB-25BC-F1E6-5B463A2DCC42}" dt="2025-05-12T21:41:32.682" v="89" actId="14100"/>
        <pc:sldMkLst>
          <pc:docMk/>
          <pc:sldMk cId="2313864970" sldId="567"/>
        </pc:sldMkLst>
      </pc:sldChg>
      <pc:sldChg chg="new">
        <pc:chgData name="Jerome, Wilondja" userId="S::wjerome@hartford.edu::81706437-7cbe-48f6-b474-7011bd3eb50f" providerId="AD" clId="Web-{2DF87A76-9CEB-25BC-F1E6-5B463A2DCC42}" dt="2025-05-12T21:55:37.287" v="90"/>
        <pc:sldMkLst>
          <pc:docMk/>
          <pc:sldMk cId="3978296172" sldId="568"/>
        </pc:sldMkLst>
      </pc:sldChg>
    </pc:docChg>
  </pc:docChgLst>
  <pc:docChgLst>
    <pc:chgData name="Wheeler, Evan" userId="71bad7db-763f-4f03-b037-06bf21d7d614" providerId="ADAL" clId="{D5EB01AB-FBF5-1F45-AB67-0BB087F01A17}"/>
    <pc:docChg chg="undo custSel addSld delSld modSld sldOrd">
      <pc:chgData name="Wheeler, Evan" userId="71bad7db-763f-4f03-b037-06bf21d7d614" providerId="ADAL" clId="{D5EB01AB-FBF5-1F45-AB67-0BB087F01A17}" dt="2025-05-12T22:23:50.531" v="1630" actId="2696"/>
      <pc:docMkLst>
        <pc:docMk/>
      </pc:docMkLst>
      <pc:sldChg chg="modSp mod">
        <pc:chgData name="Wheeler, Evan" userId="71bad7db-763f-4f03-b037-06bf21d7d614" providerId="ADAL" clId="{D5EB01AB-FBF5-1F45-AB67-0BB087F01A17}" dt="2025-05-12T21:30:14.528" v="1629" actId="20577"/>
        <pc:sldMkLst>
          <pc:docMk/>
          <pc:sldMk cId="0" sldId="256"/>
        </pc:sldMkLst>
      </pc:sldChg>
      <pc:sldChg chg="modSp mod">
        <pc:chgData name="Wheeler, Evan" userId="71bad7db-763f-4f03-b037-06bf21d7d614" providerId="ADAL" clId="{D5EB01AB-FBF5-1F45-AB67-0BB087F01A17}" dt="2025-05-12T19:15:24.776" v="185" actId="20577"/>
        <pc:sldMkLst>
          <pc:docMk/>
          <pc:sldMk cId="0" sldId="257"/>
        </pc:sldMkLst>
      </pc:sldChg>
      <pc:sldChg chg="modSp mod">
        <pc:chgData name="Wheeler, Evan" userId="71bad7db-763f-4f03-b037-06bf21d7d614" providerId="ADAL" clId="{D5EB01AB-FBF5-1F45-AB67-0BB087F01A17}" dt="2025-05-12T19:16:56.686" v="221" actId="20577"/>
        <pc:sldMkLst>
          <pc:docMk/>
          <pc:sldMk cId="0" sldId="258"/>
        </pc:sldMkLst>
      </pc:sldChg>
      <pc:sldChg chg="addSp delSp modSp mod">
        <pc:chgData name="Wheeler, Evan" userId="71bad7db-763f-4f03-b037-06bf21d7d614" providerId="ADAL" clId="{D5EB01AB-FBF5-1F45-AB67-0BB087F01A17}" dt="2025-05-12T21:26:07.844" v="1575" actId="26606"/>
        <pc:sldMkLst>
          <pc:docMk/>
          <pc:sldMk cId="0" sldId="259"/>
        </pc:sldMkLst>
      </pc:sldChg>
      <pc:sldChg chg="addSp delSp modSp mod ord">
        <pc:chgData name="Wheeler, Evan" userId="71bad7db-763f-4f03-b037-06bf21d7d614" providerId="ADAL" clId="{D5EB01AB-FBF5-1F45-AB67-0BB087F01A17}" dt="2025-05-12T19:42:42.197" v="413" actId="20578"/>
        <pc:sldMkLst>
          <pc:docMk/>
          <pc:sldMk cId="0" sldId="260"/>
        </pc:sldMkLst>
      </pc:sldChg>
      <pc:sldChg chg="addSp delSp modSp mod ord">
        <pc:chgData name="Wheeler, Evan" userId="71bad7db-763f-4f03-b037-06bf21d7d614" providerId="ADAL" clId="{D5EB01AB-FBF5-1F45-AB67-0BB087F01A17}" dt="2025-05-12T20:19:34.092" v="560" actId="14100"/>
        <pc:sldMkLst>
          <pc:docMk/>
          <pc:sldMk cId="0" sldId="261"/>
        </pc:sldMkLst>
      </pc:sldChg>
      <pc:sldChg chg="delSp modSp del mod">
        <pc:chgData name="Wheeler, Evan" userId="71bad7db-763f-4f03-b037-06bf21d7d614" providerId="ADAL" clId="{D5EB01AB-FBF5-1F45-AB67-0BB087F01A17}" dt="2025-05-12T21:07:45.766" v="1335" actId="2696"/>
        <pc:sldMkLst>
          <pc:docMk/>
          <pc:sldMk cId="0" sldId="262"/>
        </pc:sldMkLst>
      </pc:sldChg>
      <pc:sldChg chg="addSp delSp modSp mod ord">
        <pc:chgData name="Wheeler, Evan" userId="71bad7db-763f-4f03-b037-06bf21d7d614" providerId="ADAL" clId="{D5EB01AB-FBF5-1F45-AB67-0BB087F01A17}" dt="2025-05-12T21:08:53.335" v="1337" actId="20578"/>
        <pc:sldMkLst>
          <pc:docMk/>
          <pc:sldMk cId="0" sldId="263"/>
        </pc:sldMkLst>
      </pc:sldChg>
      <pc:sldChg chg="addSp delSp modSp mod">
        <pc:chgData name="Wheeler, Evan" userId="71bad7db-763f-4f03-b037-06bf21d7d614" providerId="ADAL" clId="{D5EB01AB-FBF5-1F45-AB67-0BB087F01A17}" dt="2025-05-12T21:06:57.758" v="1333" actId="20577"/>
        <pc:sldMkLst>
          <pc:docMk/>
          <pc:sldMk cId="0" sldId="264"/>
        </pc:sldMkLst>
      </pc:sldChg>
      <pc:sldChg chg="modSp mod ord">
        <pc:chgData name="Wheeler, Evan" userId="71bad7db-763f-4f03-b037-06bf21d7d614" providerId="ADAL" clId="{D5EB01AB-FBF5-1F45-AB67-0BB087F01A17}" dt="2025-05-12T21:08:08.750" v="1336" actId="5793"/>
        <pc:sldMkLst>
          <pc:docMk/>
          <pc:sldMk cId="0" sldId="265"/>
        </pc:sldMkLst>
      </pc:sldChg>
      <pc:sldChg chg="addSp delSp modSp new mod setBg">
        <pc:chgData name="Wheeler, Evan" userId="71bad7db-763f-4f03-b037-06bf21d7d614" providerId="ADAL" clId="{D5EB01AB-FBF5-1F45-AB67-0BB087F01A17}" dt="2025-05-12T19:23:13.680" v="295" actId="26606"/>
        <pc:sldMkLst>
          <pc:docMk/>
          <pc:sldMk cId="1639608621" sldId="266"/>
        </pc:sldMkLst>
      </pc:sldChg>
      <pc:sldChg chg="addSp delSp modSp mod">
        <pc:chgData name="Wheeler, Evan" userId="71bad7db-763f-4f03-b037-06bf21d7d614" providerId="ADAL" clId="{D5EB01AB-FBF5-1F45-AB67-0BB087F01A17}" dt="2025-05-12T20:43:21.172" v="850" actId="13822"/>
        <pc:sldMkLst>
          <pc:docMk/>
          <pc:sldMk cId="2726653721" sldId="564"/>
        </pc:sldMkLst>
      </pc:sldChg>
      <pc:sldChg chg="ord">
        <pc:chgData name="Wheeler, Evan" userId="71bad7db-763f-4f03-b037-06bf21d7d614" providerId="ADAL" clId="{D5EB01AB-FBF5-1F45-AB67-0BB087F01A17}" dt="2025-05-12T21:11:08.875" v="1342" actId="20578"/>
        <pc:sldMkLst>
          <pc:docMk/>
          <pc:sldMk cId="846305059" sldId="565"/>
        </pc:sldMkLst>
      </pc:sldChg>
      <pc:sldChg chg="addSp delSp modSp new mod">
        <pc:chgData name="Wheeler, Evan" userId="71bad7db-763f-4f03-b037-06bf21d7d614" providerId="ADAL" clId="{D5EB01AB-FBF5-1F45-AB67-0BB087F01A17}" dt="2025-05-12T21:25:04.426" v="1574" actId="26606"/>
        <pc:sldMkLst>
          <pc:docMk/>
          <pc:sldMk cId="3364623081" sldId="566"/>
        </pc:sldMkLst>
      </pc:sldChg>
      <pc:sldChg chg="del">
        <pc:chgData name="Wheeler, Evan" userId="71bad7db-763f-4f03-b037-06bf21d7d614" providerId="ADAL" clId="{D5EB01AB-FBF5-1F45-AB67-0BB087F01A17}" dt="2025-05-12T22:23:50.531" v="1630" actId="2696"/>
        <pc:sldMkLst>
          <pc:docMk/>
          <pc:sldMk cId="3978296172" sldId="568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Angle of</a:t>
            </a:r>
            <a:r>
              <a:rPr lang="en-US" baseline="0" dirty="0"/>
              <a:t> Tilt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yVal>
            <c:numRef>
              <c:f>Sheet1!$A$1:$A$63</c:f>
              <c:numCache>
                <c:formatCode>General</c:formatCode>
                <c:ptCount val="63"/>
                <c:pt idx="0">
                  <c:v>2.37</c:v>
                </c:pt>
                <c:pt idx="1">
                  <c:v>2.3199999999999998</c:v>
                </c:pt>
                <c:pt idx="2">
                  <c:v>2.27</c:v>
                </c:pt>
                <c:pt idx="3">
                  <c:v>2.23</c:v>
                </c:pt>
                <c:pt idx="4">
                  <c:v>2.19</c:v>
                </c:pt>
                <c:pt idx="5">
                  <c:v>2.14</c:v>
                </c:pt>
                <c:pt idx="6">
                  <c:v>2.09</c:v>
                </c:pt>
                <c:pt idx="7">
                  <c:v>2.0699999999999998</c:v>
                </c:pt>
                <c:pt idx="8">
                  <c:v>2.06</c:v>
                </c:pt>
                <c:pt idx="9">
                  <c:v>2.0299999999999998</c:v>
                </c:pt>
                <c:pt idx="10">
                  <c:v>1.98</c:v>
                </c:pt>
                <c:pt idx="11">
                  <c:v>1.97</c:v>
                </c:pt>
                <c:pt idx="12">
                  <c:v>1.93</c:v>
                </c:pt>
                <c:pt idx="13">
                  <c:v>1.9</c:v>
                </c:pt>
                <c:pt idx="14">
                  <c:v>1.85</c:v>
                </c:pt>
                <c:pt idx="15">
                  <c:v>1.8</c:v>
                </c:pt>
                <c:pt idx="16">
                  <c:v>1.78</c:v>
                </c:pt>
                <c:pt idx="17">
                  <c:v>1.76</c:v>
                </c:pt>
                <c:pt idx="18">
                  <c:v>1.75</c:v>
                </c:pt>
                <c:pt idx="19">
                  <c:v>1.74</c:v>
                </c:pt>
                <c:pt idx="20">
                  <c:v>1.71</c:v>
                </c:pt>
                <c:pt idx="21">
                  <c:v>1.72</c:v>
                </c:pt>
                <c:pt idx="22">
                  <c:v>1.71</c:v>
                </c:pt>
                <c:pt idx="23">
                  <c:v>1.67</c:v>
                </c:pt>
                <c:pt idx="24">
                  <c:v>1.65</c:v>
                </c:pt>
                <c:pt idx="25">
                  <c:v>1.63</c:v>
                </c:pt>
                <c:pt idx="26">
                  <c:v>1.62</c:v>
                </c:pt>
                <c:pt idx="27">
                  <c:v>1.6</c:v>
                </c:pt>
                <c:pt idx="28">
                  <c:v>1.6</c:v>
                </c:pt>
                <c:pt idx="29">
                  <c:v>1.61</c:v>
                </c:pt>
                <c:pt idx="30">
                  <c:v>1.58</c:v>
                </c:pt>
                <c:pt idx="31">
                  <c:v>1.57</c:v>
                </c:pt>
                <c:pt idx="32">
                  <c:v>1.56</c:v>
                </c:pt>
                <c:pt idx="33">
                  <c:v>1.54</c:v>
                </c:pt>
                <c:pt idx="34">
                  <c:v>1.54</c:v>
                </c:pt>
                <c:pt idx="35">
                  <c:v>1.54</c:v>
                </c:pt>
                <c:pt idx="36">
                  <c:v>1.55</c:v>
                </c:pt>
                <c:pt idx="37">
                  <c:v>1.57</c:v>
                </c:pt>
                <c:pt idx="38">
                  <c:v>1.58</c:v>
                </c:pt>
                <c:pt idx="39">
                  <c:v>1.59</c:v>
                </c:pt>
                <c:pt idx="40">
                  <c:v>1.57</c:v>
                </c:pt>
                <c:pt idx="41">
                  <c:v>1.55</c:v>
                </c:pt>
                <c:pt idx="42">
                  <c:v>1.59</c:v>
                </c:pt>
                <c:pt idx="43">
                  <c:v>1.56</c:v>
                </c:pt>
                <c:pt idx="44">
                  <c:v>1.54</c:v>
                </c:pt>
                <c:pt idx="45">
                  <c:v>1.58</c:v>
                </c:pt>
                <c:pt idx="46">
                  <c:v>1.58</c:v>
                </c:pt>
                <c:pt idx="47">
                  <c:v>1.58</c:v>
                </c:pt>
                <c:pt idx="48">
                  <c:v>1.58</c:v>
                </c:pt>
                <c:pt idx="49">
                  <c:v>1.58</c:v>
                </c:pt>
                <c:pt idx="50">
                  <c:v>1.62</c:v>
                </c:pt>
                <c:pt idx="51">
                  <c:v>1.61</c:v>
                </c:pt>
                <c:pt idx="52">
                  <c:v>1.62</c:v>
                </c:pt>
                <c:pt idx="53">
                  <c:v>1.61</c:v>
                </c:pt>
                <c:pt idx="54">
                  <c:v>1.58</c:v>
                </c:pt>
                <c:pt idx="55">
                  <c:v>1.57</c:v>
                </c:pt>
                <c:pt idx="56">
                  <c:v>1.55</c:v>
                </c:pt>
                <c:pt idx="57">
                  <c:v>1.53</c:v>
                </c:pt>
                <c:pt idx="58">
                  <c:v>1.51</c:v>
                </c:pt>
                <c:pt idx="59">
                  <c:v>1.47</c:v>
                </c:pt>
                <c:pt idx="60">
                  <c:v>1.45</c:v>
                </c:pt>
                <c:pt idx="61">
                  <c:v>1.42</c:v>
                </c:pt>
                <c:pt idx="62">
                  <c:v>1.41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26C0-4B8B-B53A-62973461F5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55334863"/>
        <c:axId val="1053967727"/>
      </c:scatterChart>
      <c:valAx>
        <c:axId val="105533486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53967727"/>
        <c:crosses val="autoZero"/>
        <c:crossBetween val="midCat"/>
      </c:valAx>
      <c:valAx>
        <c:axId val="10539677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5533486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Stepper</a:t>
            </a:r>
            <a:r>
              <a:rPr lang="en-US" baseline="0" dirty="0"/>
              <a:t> Motor Tilt Degrees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8658792650918649E-2"/>
          <c:y val="0.19486111111111112"/>
          <c:w val="0.89802384076990371"/>
          <c:h val="0.72125801983085447"/>
        </c:manualLayout>
      </c:layout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val>
            <c:numRef>
              <c:f>Sheet1!$B$1:$B$63</c:f>
              <c:numCache>
                <c:formatCode>General</c:formatCode>
                <c:ptCount val="63"/>
                <c:pt idx="0">
                  <c:v>45</c:v>
                </c:pt>
                <c:pt idx="1">
                  <c:v>45</c:v>
                </c:pt>
                <c:pt idx="2">
                  <c:v>45</c:v>
                </c:pt>
                <c:pt idx="3">
                  <c:v>45</c:v>
                </c:pt>
                <c:pt idx="4">
                  <c:v>45</c:v>
                </c:pt>
                <c:pt idx="5">
                  <c:v>45</c:v>
                </c:pt>
                <c:pt idx="6">
                  <c:v>45</c:v>
                </c:pt>
                <c:pt idx="7">
                  <c:v>45</c:v>
                </c:pt>
                <c:pt idx="8">
                  <c:v>45</c:v>
                </c:pt>
                <c:pt idx="9">
                  <c:v>45</c:v>
                </c:pt>
                <c:pt idx="10">
                  <c:v>45</c:v>
                </c:pt>
                <c:pt idx="11">
                  <c:v>44</c:v>
                </c:pt>
                <c:pt idx="12">
                  <c:v>43</c:v>
                </c:pt>
                <c:pt idx="13">
                  <c:v>42</c:v>
                </c:pt>
                <c:pt idx="14">
                  <c:v>41</c:v>
                </c:pt>
                <c:pt idx="15">
                  <c:v>40</c:v>
                </c:pt>
                <c:pt idx="16">
                  <c:v>39</c:v>
                </c:pt>
                <c:pt idx="17">
                  <c:v>38</c:v>
                </c:pt>
                <c:pt idx="18">
                  <c:v>37</c:v>
                </c:pt>
                <c:pt idx="19">
                  <c:v>36</c:v>
                </c:pt>
                <c:pt idx="20">
                  <c:v>35</c:v>
                </c:pt>
                <c:pt idx="21">
                  <c:v>34</c:v>
                </c:pt>
                <c:pt idx="22">
                  <c:v>33</c:v>
                </c:pt>
                <c:pt idx="23">
                  <c:v>32</c:v>
                </c:pt>
                <c:pt idx="24">
                  <c:v>31</c:v>
                </c:pt>
                <c:pt idx="25">
                  <c:v>30</c:v>
                </c:pt>
                <c:pt idx="26">
                  <c:v>29</c:v>
                </c:pt>
                <c:pt idx="27">
                  <c:v>28</c:v>
                </c:pt>
                <c:pt idx="28">
                  <c:v>27</c:v>
                </c:pt>
                <c:pt idx="29">
                  <c:v>26</c:v>
                </c:pt>
                <c:pt idx="30">
                  <c:v>25</c:v>
                </c:pt>
                <c:pt idx="31">
                  <c:v>24</c:v>
                </c:pt>
                <c:pt idx="32">
                  <c:v>23</c:v>
                </c:pt>
                <c:pt idx="33">
                  <c:v>22</c:v>
                </c:pt>
                <c:pt idx="34">
                  <c:v>21</c:v>
                </c:pt>
                <c:pt idx="35">
                  <c:v>20</c:v>
                </c:pt>
                <c:pt idx="36">
                  <c:v>19</c:v>
                </c:pt>
                <c:pt idx="37">
                  <c:v>18</c:v>
                </c:pt>
                <c:pt idx="38">
                  <c:v>17</c:v>
                </c:pt>
                <c:pt idx="39">
                  <c:v>16</c:v>
                </c:pt>
                <c:pt idx="40">
                  <c:v>15</c:v>
                </c:pt>
                <c:pt idx="41">
                  <c:v>14</c:v>
                </c:pt>
                <c:pt idx="42">
                  <c:v>13</c:v>
                </c:pt>
                <c:pt idx="43">
                  <c:v>12</c:v>
                </c:pt>
                <c:pt idx="44">
                  <c:v>11</c:v>
                </c:pt>
                <c:pt idx="45">
                  <c:v>10</c:v>
                </c:pt>
                <c:pt idx="46">
                  <c:v>9</c:v>
                </c:pt>
                <c:pt idx="47">
                  <c:v>8</c:v>
                </c:pt>
                <c:pt idx="48">
                  <c:v>7</c:v>
                </c:pt>
                <c:pt idx="49">
                  <c:v>6</c:v>
                </c:pt>
                <c:pt idx="50">
                  <c:v>5</c:v>
                </c:pt>
                <c:pt idx="51">
                  <c:v>4</c:v>
                </c:pt>
                <c:pt idx="52">
                  <c:v>3</c:v>
                </c:pt>
                <c:pt idx="53">
                  <c:v>2</c:v>
                </c:pt>
                <c:pt idx="54">
                  <c:v>1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C65-4CDA-AAAE-44B15D1D9F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53972319"/>
        <c:axId val="1611784735"/>
      </c:lineChart>
      <c:catAx>
        <c:axId val="1053972319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11784735"/>
        <c:crosses val="autoZero"/>
        <c:auto val="1"/>
        <c:lblAlgn val="ctr"/>
        <c:lblOffset val="100"/>
        <c:noMultiLvlLbl val="0"/>
      </c:catAx>
      <c:valAx>
        <c:axId val="16117847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539723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267DF09-5E92-40D0-9C35-D4B83C6807B4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3F2C790-D55C-49BB-A153-3961BC73592C}">
      <dgm:prSet/>
      <dgm:spPr/>
      <dgm:t>
        <a:bodyPr/>
        <a:lstStyle/>
        <a:p>
          <a:r>
            <a:rPr lang="en-US"/>
            <a:t>Fix up controllers for better performance</a:t>
          </a:r>
        </a:p>
      </dgm:t>
    </dgm:pt>
    <dgm:pt modelId="{0B20A607-0A33-4E84-9B8E-1E4C2500C502}" type="parTrans" cxnId="{4259BA8F-AB58-4C36-854A-13DAD035FDA2}">
      <dgm:prSet/>
      <dgm:spPr/>
      <dgm:t>
        <a:bodyPr/>
        <a:lstStyle/>
        <a:p>
          <a:endParaRPr lang="en-US"/>
        </a:p>
      </dgm:t>
    </dgm:pt>
    <dgm:pt modelId="{F05AAB68-FCB4-4004-8D53-874DB068DB77}" type="sibTrans" cxnId="{4259BA8F-AB58-4C36-854A-13DAD035FDA2}">
      <dgm:prSet/>
      <dgm:spPr/>
      <dgm:t>
        <a:bodyPr/>
        <a:lstStyle/>
        <a:p>
          <a:endParaRPr lang="en-US"/>
        </a:p>
      </dgm:t>
    </dgm:pt>
    <dgm:pt modelId="{88136935-309B-42EB-9B70-5001D164D9D0}">
      <dgm:prSet/>
      <dgm:spPr/>
      <dgm:t>
        <a:bodyPr/>
        <a:lstStyle/>
        <a:p>
          <a:r>
            <a:rPr lang="en-US"/>
            <a:t>Improve stepper motors</a:t>
          </a:r>
        </a:p>
      </dgm:t>
    </dgm:pt>
    <dgm:pt modelId="{E18CFBCB-9944-4D84-87DE-0DD766EACA2E}" type="parTrans" cxnId="{3A818518-1F18-43F6-B05A-428D0F280D34}">
      <dgm:prSet/>
      <dgm:spPr/>
      <dgm:t>
        <a:bodyPr/>
        <a:lstStyle/>
        <a:p>
          <a:endParaRPr lang="en-US"/>
        </a:p>
      </dgm:t>
    </dgm:pt>
    <dgm:pt modelId="{A5E7C84D-B625-4C8A-A75A-35CB2A81F98D}" type="sibTrans" cxnId="{3A818518-1F18-43F6-B05A-428D0F280D34}">
      <dgm:prSet/>
      <dgm:spPr/>
      <dgm:t>
        <a:bodyPr/>
        <a:lstStyle/>
        <a:p>
          <a:endParaRPr lang="en-US"/>
        </a:p>
      </dgm:t>
    </dgm:pt>
    <dgm:pt modelId="{24152750-F1DD-4E29-82E7-45031B0C2F4B}">
      <dgm:prSet/>
      <dgm:spPr/>
      <dgm:t>
        <a:bodyPr/>
        <a:lstStyle/>
        <a:p>
          <a:r>
            <a:rPr lang="en-US"/>
            <a:t>Create casing for electrical components</a:t>
          </a:r>
        </a:p>
      </dgm:t>
    </dgm:pt>
    <dgm:pt modelId="{2BD1D7A0-81AC-4EF7-AD76-F809DA4F64C0}" type="parTrans" cxnId="{48F09C64-C745-4A44-87B2-6BDB225A10E5}">
      <dgm:prSet/>
      <dgm:spPr/>
      <dgm:t>
        <a:bodyPr/>
        <a:lstStyle/>
        <a:p>
          <a:endParaRPr lang="en-US"/>
        </a:p>
      </dgm:t>
    </dgm:pt>
    <dgm:pt modelId="{BCD66A88-5D58-4289-A4F3-152AF7C2714D}" type="sibTrans" cxnId="{48F09C64-C745-4A44-87B2-6BDB225A10E5}">
      <dgm:prSet/>
      <dgm:spPr/>
      <dgm:t>
        <a:bodyPr/>
        <a:lstStyle/>
        <a:p>
          <a:endParaRPr lang="en-US"/>
        </a:p>
      </dgm:t>
    </dgm:pt>
    <dgm:pt modelId="{B770783D-5B02-43A6-A9F6-2A4643F469CD}">
      <dgm:prSet/>
      <dgm:spPr/>
      <dgm:t>
        <a:bodyPr/>
        <a:lstStyle/>
        <a:p>
          <a:r>
            <a:rPr lang="en-US"/>
            <a:t>Balance flywheels (Bike weights)</a:t>
          </a:r>
        </a:p>
      </dgm:t>
    </dgm:pt>
    <dgm:pt modelId="{51BC0CE4-9E8B-4A56-A2AD-65B1C6ABC964}" type="parTrans" cxnId="{29B3E23A-BF8F-4542-A8F7-9EFA7C0A698D}">
      <dgm:prSet/>
      <dgm:spPr/>
      <dgm:t>
        <a:bodyPr/>
        <a:lstStyle/>
        <a:p>
          <a:endParaRPr lang="en-US"/>
        </a:p>
      </dgm:t>
    </dgm:pt>
    <dgm:pt modelId="{C4918043-377C-4F0A-A196-D03722A84B69}" type="sibTrans" cxnId="{29B3E23A-BF8F-4542-A8F7-9EFA7C0A698D}">
      <dgm:prSet/>
      <dgm:spPr/>
      <dgm:t>
        <a:bodyPr/>
        <a:lstStyle/>
        <a:p>
          <a:endParaRPr lang="en-US"/>
        </a:p>
      </dgm:t>
    </dgm:pt>
    <dgm:pt modelId="{D1A3933A-5219-407E-8BD0-0AF2DF32DF13}">
      <dgm:prSet/>
      <dgm:spPr/>
      <dgm:t>
        <a:bodyPr/>
        <a:lstStyle/>
        <a:p>
          <a:r>
            <a:rPr lang="en-US"/>
            <a:t>Springs attached to flywheels for support</a:t>
          </a:r>
        </a:p>
      </dgm:t>
    </dgm:pt>
    <dgm:pt modelId="{A612F234-8FF7-4A14-A439-C4AA2C23000D}" type="parTrans" cxnId="{E3FAB637-ACDC-4916-AB08-39B183CCE031}">
      <dgm:prSet/>
      <dgm:spPr/>
      <dgm:t>
        <a:bodyPr/>
        <a:lstStyle/>
        <a:p>
          <a:endParaRPr lang="en-US"/>
        </a:p>
      </dgm:t>
    </dgm:pt>
    <dgm:pt modelId="{47E010D5-1A8C-4593-899E-E7664FDF0707}" type="sibTrans" cxnId="{E3FAB637-ACDC-4916-AB08-39B183CCE031}">
      <dgm:prSet/>
      <dgm:spPr/>
      <dgm:t>
        <a:bodyPr/>
        <a:lstStyle/>
        <a:p>
          <a:endParaRPr lang="en-US"/>
        </a:p>
      </dgm:t>
    </dgm:pt>
    <dgm:pt modelId="{9A1144EF-63D0-AF4C-ADBF-8AEAB4D8B49D}" type="pres">
      <dgm:prSet presAssocID="{8267DF09-5E92-40D0-9C35-D4B83C6807B4}" presName="vert0" presStyleCnt="0">
        <dgm:presLayoutVars>
          <dgm:dir/>
          <dgm:animOne val="branch"/>
          <dgm:animLvl val="lvl"/>
        </dgm:presLayoutVars>
      </dgm:prSet>
      <dgm:spPr/>
    </dgm:pt>
    <dgm:pt modelId="{859176E9-BF27-0F4B-A253-A08B93959D8A}" type="pres">
      <dgm:prSet presAssocID="{E3F2C790-D55C-49BB-A153-3961BC73592C}" presName="thickLine" presStyleLbl="alignNode1" presStyleIdx="0" presStyleCnt="5"/>
      <dgm:spPr/>
    </dgm:pt>
    <dgm:pt modelId="{D4A06C8D-AC1E-AB40-863E-72C8C7B6B4D9}" type="pres">
      <dgm:prSet presAssocID="{E3F2C790-D55C-49BB-A153-3961BC73592C}" presName="horz1" presStyleCnt="0"/>
      <dgm:spPr/>
    </dgm:pt>
    <dgm:pt modelId="{C642A773-38AC-654A-8530-0DB19EC6CC35}" type="pres">
      <dgm:prSet presAssocID="{E3F2C790-D55C-49BB-A153-3961BC73592C}" presName="tx1" presStyleLbl="revTx" presStyleIdx="0" presStyleCnt="5"/>
      <dgm:spPr/>
    </dgm:pt>
    <dgm:pt modelId="{EEF094A4-E95A-AC4D-9284-FEB4BE71B963}" type="pres">
      <dgm:prSet presAssocID="{E3F2C790-D55C-49BB-A153-3961BC73592C}" presName="vert1" presStyleCnt="0"/>
      <dgm:spPr/>
    </dgm:pt>
    <dgm:pt modelId="{458F4F4A-EE81-274A-874A-19E6848113FD}" type="pres">
      <dgm:prSet presAssocID="{88136935-309B-42EB-9B70-5001D164D9D0}" presName="thickLine" presStyleLbl="alignNode1" presStyleIdx="1" presStyleCnt="5"/>
      <dgm:spPr/>
    </dgm:pt>
    <dgm:pt modelId="{748B004C-7814-474C-85D0-E54EFD7A7EB8}" type="pres">
      <dgm:prSet presAssocID="{88136935-309B-42EB-9B70-5001D164D9D0}" presName="horz1" presStyleCnt="0"/>
      <dgm:spPr/>
    </dgm:pt>
    <dgm:pt modelId="{A2227298-9764-BA4A-ABF0-FBA30E2721C6}" type="pres">
      <dgm:prSet presAssocID="{88136935-309B-42EB-9B70-5001D164D9D0}" presName="tx1" presStyleLbl="revTx" presStyleIdx="1" presStyleCnt="5"/>
      <dgm:spPr/>
    </dgm:pt>
    <dgm:pt modelId="{62016E20-782A-2445-A378-33A062D78AE4}" type="pres">
      <dgm:prSet presAssocID="{88136935-309B-42EB-9B70-5001D164D9D0}" presName="vert1" presStyleCnt="0"/>
      <dgm:spPr/>
    </dgm:pt>
    <dgm:pt modelId="{8A75A7EB-5C6E-1A4E-932B-F0B29F4E90C5}" type="pres">
      <dgm:prSet presAssocID="{24152750-F1DD-4E29-82E7-45031B0C2F4B}" presName="thickLine" presStyleLbl="alignNode1" presStyleIdx="2" presStyleCnt="5"/>
      <dgm:spPr/>
    </dgm:pt>
    <dgm:pt modelId="{35283AA9-B546-AD4D-A87E-8E6585D6D03A}" type="pres">
      <dgm:prSet presAssocID="{24152750-F1DD-4E29-82E7-45031B0C2F4B}" presName="horz1" presStyleCnt="0"/>
      <dgm:spPr/>
    </dgm:pt>
    <dgm:pt modelId="{13247E58-239F-7C46-AFB4-B6697E08BB36}" type="pres">
      <dgm:prSet presAssocID="{24152750-F1DD-4E29-82E7-45031B0C2F4B}" presName="tx1" presStyleLbl="revTx" presStyleIdx="2" presStyleCnt="5"/>
      <dgm:spPr/>
    </dgm:pt>
    <dgm:pt modelId="{0D40F31C-8A03-934C-AEA7-123E8FDFDC4B}" type="pres">
      <dgm:prSet presAssocID="{24152750-F1DD-4E29-82E7-45031B0C2F4B}" presName="vert1" presStyleCnt="0"/>
      <dgm:spPr/>
    </dgm:pt>
    <dgm:pt modelId="{35C2AD65-8FFB-0947-A7AC-F13BF76A48C0}" type="pres">
      <dgm:prSet presAssocID="{B770783D-5B02-43A6-A9F6-2A4643F469CD}" presName="thickLine" presStyleLbl="alignNode1" presStyleIdx="3" presStyleCnt="5"/>
      <dgm:spPr/>
    </dgm:pt>
    <dgm:pt modelId="{CB40D984-E33A-CE4A-8B6E-E31F608CD492}" type="pres">
      <dgm:prSet presAssocID="{B770783D-5B02-43A6-A9F6-2A4643F469CD}" presName="horz1" presStyleCnt="0"/>
      <dgm:spPr/>
    </dgm:pt>
    <dgm:pt modelId="{C2794173-DAAC-D849-84AC-CB8E5CAF6EBD}" type="pres">
      <dgm:prSet presAssocID="{B770783D-5B02-43A6-A9F6-2A4643F469CD}" presName="tx1" presStyleLbl="revTx" presStyleIdx="3" presStyleCnt="5"/>
      <dgm:spPr/>
    </dgm:pt>
    <dgm:pt modelId="{1088FBCC-9147-B345-8A17-BEE35C6F9788}" type="pres">
      <dgm:prSet presAssocID="{B770783D-5B02-43A6-A9F6-2A4643F469CD}" presName="vert1" presStyleCnt="0"/>
      <dgm:spPr/>
    </dgm:pt>
    <dgm:pt modelId="{D6C46566-FC7E-A346-B9DA-B80A72A3474C}" type="pres">
      <dgm:prSet presAssocID="{D1A3933A-5219-407E-8BD0-0AF2DF32DF13}" presName="thickLine" presStyleLbl="alignNode1" presStyleIdx="4" presStyleCnt="5"/>
      <dgm:spPr/>
    </dgm:pt>
    <dgm:pt modelId="{5EED34E9-DEEB-934D-81EF-8D061567FFF6}" type="pres">
      <dgm:prSet presAssocID="{D1A3933A-5219-407E-8BD0-0AF2DF32DF13}" presName="horz1" presStyleCnt="0"/>
      <dgm:spPr/>
    </dgm:pt>
    <dgm:pt modelId="{70F8BD33-AD18-4842-9470-CA0E4E04BED8}" type="pres">
      <dgm:prSet presAssocID="{D1A3933A-5219-407E-8BD0-0AF2DF32DF13}" presName="tx1" presStyleLbl="revTx" presStyleIdx="4" presStyleCnt="5"/>
      <dgm:spPr/>
    </dgm:pt>
    <dgm:pt modelId="{3E8FC68B-CDC2-104F-8360-F1F6C168F1A9}" type="pres">
      <dgm:prSet presAssocID="{D1A3933A-5219-407E-8BD0-0AF2DF32DF13}" presName="vert1" presStyleCnt="0"/>
      <dgm:spPr/>
    </dgm:pt>
  </dgm:ptLst>
  <dgm:cxnLst>
    <dgm:cxn modelId="{3A818518-1F18-43F6-B05A-428D0F280D34}" srcId="{8267DF09-5E92-40D0-9C35-D4B83C6807B4}" destId="{88136935-309B-42EB-9B70-5001D164D9D0}" srcOrd="1" destOrd="0" parTransId="{E18CFBCB-9944-4D84-87DE-0DD766EACA2E}" sibTransId="{A5E7C84D-B625-4C8A-A75A-35CB2A81F98D}"/>
    <dgm:cxn modelId="{E3FAB637-ACDC-4916-AB08-39B183CCE031}" srcId="{8267DF09-5E92-40D0-9C35-D4B83C6807B4}" destId="{D1A3933A-5219-407E-8BD0-0AF2DF32DF13}" srcOrd="4" destOrd="0" parTransId="{A612F234-8FF7-4A14-A439-C4AA2C23000D}" sibTransId="{47E010D5-1A8C-4593-899E-E7664FDF0707}"/>
    <dgm:cxn modelId="{EE179338-3C09-2F47-A7CC-289FAE80EF4E}" type="presOf" srcId="{8267DF09-5E92-40D0-9C35-D4B83C6807B4}" destId="{9A1144EF-63D0-AF4C-ADBF-8AEAB4D8B49D}" srcOrd="0" destOrd="0" presId="urn:microsoft.com/office/officeart/2008/layout/LinedList"/>
    <dgm:cxn modelId="{29B3E23A-BF8F-4542-A8F7-9EFA7C0A698D}" srcId="{8267DF09-5E92-40D0-9C35-D4B83C6807B4}" destId="{B770783D-5B02-43A6-A9F6-2A4643F469CD}" srcOrd="3" destOrd="0" parTransId="{51BC0CE4-9E8B-4A56-A2AD-65B1C6ABC964}" sibTransId="{C4918043-377C-4F0A-A196-D03722A84B69}"/>
    <dgm:cxn modelId="{48F09C64-C745-4A44-87B2-6BDB225A10E5}" srcId="{8267DF09-5E92-40D0-9C35-D4B83C6807B4}" destId="{24152750-F1DD-4E29-82E7-45031B0C2F4B}" srcOrd="2" destOrd="0" parTransId="{2BD1D7A0-81AC-4EF7-AD76-F809DA4F64C0}" sibTransId="{BCD66A88-5D58-4289-A4F3-152AF7C2714D}"/>
    <dgm:cxn modelId="{4259BA8F-AB58-4C36-854A-13DAD035FDA2}" srcId="{8267DF09-5E92-40D0-9C35-D4B83C6807B4}" destId="{E3F2C790-D55C-49BB-A153-3961BC73592C}" srcOrd="0" destOrd="0" parTransId="{0B20A607-0A33-4E84-9B8E-1E4C2500C502}" sibTransId="{F05AAB68-FCB4-4004-8D53-874DB068DB77}"/>
    <dgm:cxn modelId="{13E391A7-7DCE-154B-96B2-942AB2F510EF}" type="presOf" srcId="{24152750-F1DD-4E29-82E7-45031B0C2F4B}" destId="{13247E58-239F-7C46-AFB4-B6697E08BB36}" srcOrd="0" destOrd="0" presId="urn:microsoft.com/office/officeart/2008/layout/LinedList"/>
    <dgm:cxn modelId="{D84EC7AE-8B57-0240-B28C-0BECCF06E46E}" type="presOf" srcId="{D1A3933A-5219-407E-8BD0-0AF2DF32DF13}" destId="{70F8BD33-AD18-4842-9470-CA0E4E04BED8}" srcOrd="0" destOrd="0" presId="urn:microsoft.com/office/officeart/2008/layout/LinedList"/>
    <dgm:cxn modelId="{2305B1C1-BFA9-6A40-9FBE-4230E7965BE1}" type="presOf" srcId="{88136935-309B-42EB-9B70-5001D164D9D0}" destId="{A2227298-9764-BA4A-ABF0-FBA30E2721C6}" srcOrd="0" destOrd="0" presId="urn:microsoft.com/office/officeart/2008/layout/LinedList"/>
    <dgm:cxn modelId="{953113D8-05C3-F44D-83C5-673D25FCCD02}" type="presOf" srcId="{B770783D-5B02-43A6-A9F6-2A4643F469CD}" destId="{C2794173-DAAC-D849-84AC-CB8E5CAF6EBD}" srcOrd="0" destOrd="0" presId="urn:microsoft.com/office/officeart/2008/layout/LinedList"/>
    <dgm:cxn modelId="{A6A5CEDC-8913-3640-A9A9-C0AAB8F3AFBA}" type="presOf" srcId="{E3F2C790-D55C-49BB-A153-3961BC73592C}" destId="{C642A773-38AC-654A-8530-0DB19EC6CC35}" srcOrd="0" destOrd="0" presId="urn:microsoft.com/office/officeart/2008/layout/LinedList"/>
    <dgm:cxn modelId="{F0A5ED01-F7AF-5048-ACF1-ECE492438460}" type="presParOf" srcId="{9A1144EF-63D0-AF4C-ADBF-8AEAB4D8B49D}" destId="{859176E9-BF27-0F4B-A253-A08B93959D8A}" srcOrd="0" destOrd="0" presId="urn:microsoft.com/office/officeart/2008/layout/LinedList"/>
    <dgm:cxn modelId="{9A1F6C27-A857-D640-ABD1-CED616E76AE5}" type="presParOf" srcId="{9A1144EF-63D0-AF4C-ADBF-8AEAB4D8B49D}" destId="{D4A06C8D-AC1E-AB40-863E-72C8C7B6B4D9}" srcOrd="1" destOrd="0" presId="urn:microsoft.com/office/officeart/2008/layout/LinedList"/>
    <dgm:cxn modelId="{50A03F91-35C8-D24B-A7AD-80818AA7F179}" type="presParOf" srcId="{D4A06C8D-AC1E-AB40-863E-72C8C7B6B4D9}" destId="{C642A773-38AC-654A-8530-0DB19EC6CC35}" srcOrd="0" destOrd="0" presId="urn:microsoft.com/office/officeart/2008/layout/LinedList"/>
    <dgm:cxn modelId="{9A4E48F6-8A60-9845-91CD-C30358A085E0}" type="presParOf" srcId="{D4A06C8D-AC1E-AB40-863E-72C8C7B6B4D9}" destId="{EEF094A4-E95A-AC4D-9284-FEB4BE71B963}" srcOrd="1" destOrd="0" presId="urn:microsoft.com/office/officeart/2008/layout/LinedList"/>
    <dgm:cxn modelId="{E99D9601-E228-144D-9545-BDD7A741CF68}" type="presParOf" srcId="{9A1144EF-63D0-AF4C-ADBF-8AEAB4D8B49D}" destId="{458F4F4A-EE81-274A-874A-19E6848113FD}" srcOrd="2" destOrd="0" presId="urn:microsoft.com/office/officeart/2008/layout/LinedList"/>
    <dgm:cxn modelId="{5E6C069B-DD76-9C41-A73B-E0C6FC11F15B}" type="presParOf" srcId="{9A1144EF-63D0-AF4C-ADBF-8AEAB4D8B49D}" destId="{748B004C-7814-474C-85D0-E54EFD7A7EB8}" srcOrd="3" destOrd="0" presId="urn:microsoft.com/office/officeart/2008/layout/LinedList"/>
    <dgm:cxn modelId="{0DB7447C-F6D5-5147-AB39-F6A800592495}" type="presParOf" srcId="{748B004C-7814-474C-85D0-E54EFD7A7EB8}" destId="{A2227298-9764-BA4A-ABF0-FBA30E2721C6}" srcOrd="0" destOrd="0" presId="urn:microsoft.com/office/officeart/2008/layout/LinedList"/>
    <dgm:cxn modelId="{6A1A4DCC-02E7-3D47-BFDE-687E71013B34}" type="presParOf" srcId="{748B004C-7814-474C-85D0-E54EFD7A7EB8}" destId="{62016E20-782A-2445-A378-33A062D78AE4}" srcOrd="1" destOrd="0" presId="urn:microsoft.com/office/officeart/2008/layout/LinedList"/>
    <dgm:cxn modelId="{334C247C-4AB1-6547-B006-09C188F336C7}" type="presParOf" srcId="{9A1144EF-63D0-AF4C-ADBF-8AEAB4D8B49D}" destId="{8A75A7EB-5C6E-1A4E-932B-F0B29F4E90C5}" srcOrd="4" destOrd="0" presId="urn:microsoft.com/office/officeart/2008/layout/LinedList"/>
    <dgm:cxn modelId="{BB0CD893-C49D-5C47-B30B-4651A1B76391}" type="presParOf" srcId="{9A1144EF-63D0-AF4C-ADBF-8AEAB4D8B49D}" destId="{35283AA9-B546-AD4D-A87E-8E6585D6D03A}" srcOrd="5" destOrd="0" presId="urn:microsoft.com/office/officeart/2008/layout/LinedList"/>
    <dgm:cxn modelId="{BDCF6644-4064-324F-83A1-A00AA233954E}" type="presParOf" srcId="{35283AA9-B546-AD4D-A87E-8E6585D6D03A}" destId="{13247E58-239F-7C46-AFB4-B6697E08BB36}" srcOrd="0" destOrd="0" presId="urn:microsoft.com/office/officeart/2008/layout/LinedList"/>
    <dgm:cxn modelId="{30893AE6-8C4A-B942-9B48-865D346DDD50}" type="presParOf" srcId="{35283AA9-B546-AD4D-A87E-8E6585D6D03A}" destId="{0D40F31C-8A03-934C-AEA7-123E8FDFDC4B}" srcOrd="1" destOrd="0" presId="urn:microsoft.com/office/officeart/2008/layout/LinedList"/>
    <dgm:cxn modelId="{62B1F2D5-480E-7547-94F0-419ED6EDCFC4}" type="presParOf" srcId="{9A1144EF-63D0-AF4C-ADBF-8AEAB4D8B49D}" destId="{35C2AD65-8FFB-0947-A7AC-F13BF76A48C0}" srcOrd="6" destOrd="0" presId="urn:microsoft.com/office/officeart/2008/layout/LinedList"/>
    <dgm:cxn modelId="{A75E1DCF-6ED4-E148-B134-9F694AA4D1C1}" type="presParOf" srcId="{9A1144EF-63D0-AF4C-ADBF-8AEAB4D8B49D}" destId="{CB40D984-E33A-CE4A-8B6E-E31F608CD492}" srcOrd="7" destOrd="0" presId="urn:microsoft.com/office/officeart/2008/layout/LinedList"/>
    <dgm:cxn modelId="{20184519-9792-CB46-82D3-74723AF2316B}" type="presParOf" srcId="{CB40D984-E33A-CE4A-8B6E-E31F608CD492}" destId="{C2794173-DAAC-D849-84AC-CB8E5CAF6EBD}" srcOrd="0" destOrd="0" presId="urn:microsoft.com/office/officeart/2008/layout/LinedList"/>
    <dgm:cxn modelId="{257CC413-8321-E540-81BD-772D70C694CA}" type="presParOf" srcId="{CB40D984-E33A-CE4A-8B6E-E31F608CD492}" destId="{1088FBCC-9147-B345-8A17-BEE35C6F9788}" srcOrd="1" destOrd="0" presId="urn:microsoft.com/office/officeart/2008/layout/LinedList"/>
    <dgm:cxn modelId="{04E1DD2A-7A5B-184D-B409-AFCD03503D93}" type="presParOf" srcId="{9A1144EF-63D0-AF4C-ADBF-8AEAB4D8B49D}" destId="{D6C46566-FC7E-A346-B9DA-B80A72A3474C}" srcOrd="8" destOrd="0" presId="urn:microsoft.com/office/officeart/2008/layout/LinedList"/>
    <dgm:cxn modelId="{DCAF7617-44C8-E345-B8FE-925C2A6B0A09}" type="presParOf" srcId="{9A1144EF-63D0-AF4C-ADBF-8AEAB4D8B49D}" destId="{5EED34E9-DEEB-934D-81EF-8D061567FFF6}" srcOrd="9" destOrd="0" presId="urn:microsoft.com/office/officeart/2008/layout/LinedList"/>
    <dgm:cxn modelId="{C312567B-6F4A-724A-B61F-1B908F7BF7E5}" type="presParOf" srcId="{5EED34E9-DEEB-934D-81EF-8D061567FFF6}" destId="{70F8BD33-AD18-4842-9470-CA0E4E04BED8}" srcOrd="0" destOrd="0" presId="urn:microsoft.com/office/officeart/2008/layout/LinedList"/>
    <dgm:cxn modelId="{16436279-3EE1-1D43-9CE9-3E0A2121D4A7}" type="presParOf" srcId="{5EED34E9-DEEB-934D-81EF-8D061567FFF6}" destId="{3E8FC68B-CDC2-104F-8360-F1F6C168F1A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9176E9-BF27-0F4B-A253-A08B93959D8A}">
      <dsp:nvSpPr>
        <dsp:cNvPr id="0" name=""/>
        <dsp:cNvSpPr/>
      </dsp:nvSpPr>
      <dsp:spPr>
        <a:xfrm>
          <a:off x="0" y="55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42A773-38AC-654A-8530-0DB19EC6CC35}">
      <dsp:nvSpPr>
        <dsp:cNvPr id="0" name=""/>
        <dsp:cNvSpPr/>
      </dsp:nvSpPr>
      <dsp:spPr>
        <a:xfrm>
          <a:off x="0" y="552"/>
          <a:ext cx="8229600" cy="904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Fix up controllers for better performance</a:t>
          </a:r>
        </a:p>
      </dsp:txBody>
      <dsp:txXfrm>
        <a:off x="0" y="552"/>
        <a:ext cx="8229600" cy="904971"/>
      </dsp:txXfrm>
    </dsp:sp>
    <dsp:sp modelId="{458F4F4A-EE81-274A-874A-19E6848113FD}">
      <dsp:nvSpPr>
        <dsp:cNvPr id="0" name=""/>
        <dsp:cNvSpPr/>
      </dsp:nvSpPr>
      <dsp:spPr>
        <a:xfrm>
          <a:off x="0" y="905524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227298-9764-BA4A-ABF0-FBA30E2721C6}">
      <dsp:nvSpPr>
        <dsp:cNvPr id="0" name=""/>
        <dsp:cNvSpPr/>
      </dsp:nvSpPr>
      <dsp:spPr>
        <a:xfrm>
          <a:off x="0" y="905524"/>
          <a:ext cx="8229600" cy="904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Improve stepper motors</a:t>
          </a:r>
        </a:p>
      </dsp:txBody>
      <dsp:txXfrm>
        <a:off x="0" y="905524"/>
        <a:ext cx="8229600" cy="904971"/>
      </dsp:txXfrm>
    </dsp:sp>
    <dsp:sp modelId="{8A75A7EB-5C6E-1A4E-932B-F0B29F4E90C5}">
      <dsp:nvSpPr>
        <dsp:cNvPr id="0" name=""/>
        <dsp:cNvSpPr/>
      </dsp:nvSpPr>
      <dsp:spPr>
        <a:xfrm>
          <a:off x="0" y="1810495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247E58-239F-7C46-AFB4-B6697E08BB36}">
      <dsp:nvSpPr>
        <dsp:cNvPr id="0" name=""/>
        <dsp:cNvSpPr/>
      </dsp:nvSpPr>
      <dsp:spPr>
        <a:xfrm>
          <a:off x="0" y="1810495"/>
          <a:ext cx="8229600" cy="904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Create casing for electrical components</a:t>
          </a:r>
        </a:p>
      </dsp:txBody>
      <dsp:txXfrm>
        <a:off x="0" y="1810495"/>
        <a:ext cx="8229600" cy="904971"/>
      </dsp:txXfrm>
    </dsp:sp>
    <dsp:sp modelId="{35C2AD65-8FFB-0947-A7AC-F13BF76A48C0}">
      <dsp:nvSpPr>
        <dsp:cNvPr id="0" name=""/>
        <dsp:cNvSpPr/>
      </dsp:nvSpPr>
      <dsp:spPr>
        <a:xfrm>
          <a:off x="0" y="2715467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794173-DAAC-D849-84AC-CB8E5CAF6EBD}">
      <dsp:nvSpPr>
        <dsp:cNvPr id="0" name=""/>
        <dsp:cNvSpPr/>
      </dsp:nvSpPr>
      <dsp:spPr>
        <a:xfrm>
          <a:off x="0" y="2715467"/>
          <a:ext cx="8229600" cy="904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Balance flywheels (Bike weights)</a:t>
          </a:r>
        </a:p>
      </dsp:txBody>
      <dsp:txXfrm>
        <a:off x="0" y="2715467"/>
        <a:ext cx="8229600" cy="904971"/>
      </dsp:txXfrm>
    </dsp:sp>
    <dsp:sp modelId="{D6C46566-FC7E-A346-B9DA-B80A72A3474C}">
      <dsp:nvSpPr>
        <dsp:cNvPr id="0" name=""/>
        <dsp:cNvSpPr/>
      </dsp:nvSpPr>
      <dsp:spPr>
        <a:xfrm>
          <a:off x="0" y="3620438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F8BD33-AD18-4842-9470-CA0E4E04BED8}">
      <dsp:nvSpPr>
        <dsp:cNvPr id="0" name=""/>
        <dsp:cNvSpPr/>
      </dsp:nvSpPr>
      <dsp:spPr>
        <a:xfrm>
          <a:off x="0" y="3620438"/>
          <a:ext cx="8229600" cy="904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Springs attached to flywheels for support</a:t>
          </a:r>
        </a:p>
      </dsp:txBody>
      <dsp:txXfrm>
        <a:off x="0" y="3620438"/>
        <a:ext cx="8229600" cy="9049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3E424D-9C67-7744-BC83-A18C7E39BE85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FEEBAC-8EDC-294E-AEFC-283E459D97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278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FEEBAC-8EDC-294E-AEFC-283E459D97C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348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microsoft.com/office/2007/relationships/hdphoto" Target="../media/hdphoto2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11" Type="http://schemas.openxmlformats.org/officeDocument/2006/relationships/image" Target="../media/image20.png"/><Relationship Id="rId5" Type="http://schemas.openxmlformats.org/officeDocument/2006/relationships/image" Target="../media/image15.jpeg"/><Relationship Id="rId10" Type="http://schemas.microsoft.com/office/2007/relationships/hdphoto" Target="../media/hdphoto1.wdp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72896"/>
            <a:ext cx="8229600" cy="3023616"/>
          </a:xfrm>
        </p:spPr>
        <p:txBody>
          <a:bodyPr>
            <a:normAutofit/>
          </a:bodyPr>
          <a:lstStyle/>
          <a:p>
            <a:r>
              <a:rPr lang="en-US" dirty="0"/>
              <a:t>Gyro-Stabilized Inline Skateboard</a:t>
            </a:r>
            <a:endParaRPr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1DD8972-E239-2F63-FD2D-98784A7AB4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75995" y="3627464"/>
            <a:ext cx="4792009" cy="274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7F13CFF-8CBB-BB65-35A5-108A7991CBBA}"/>
              </a:ext>
            </a:extLst>
          </p:cNvPr>
          <p:cNvSpPr txBox="1"/>
          <p:nvPr/>
        </p:nvSpPr>
        <p:spPr>
          <a:xfrm>
            <a:off x="1782435" y="752922"/>
            <a:ext cx="55791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By: Kiden, Evan, &amp; Willona</a:t>
            </a:r>
          </a:p>
          <a:p>
            <a:pPr algn="ctr"/>
            <a:r>
              <a:rPr lang="en-US" dirty="0"/>
              <a:t>Professor Campana</a:t>
            </a:r>
            <a:r>
              <a:rPr lang="en-US"/>
              <a:t> ME 505 / 405</a:t>
            </a:r>
            <a:r>
              <a:rPr lang="en-US" dirty="0"/>
              <a:t>: MW 6:30-7::</a:t>
            </a:r>
            <a:r>
              <a:rPr lang="en-US"/>
              <a:t>45</a:t>
            </a:r>
          </a:p>
          <a:p>
            <a:pPr algn="ctr"/>
            <a:r>
              <a:rPr lang="en-US"/>
              <a:t>May 12</a:t>
            </a:r>
            <a:r>
              <a:rPr lang="en-US" baseline="30000"/>
              <a:t>th</a:t>
            </a:r>
            <a:r>
              <a:rPr lang="en-US"/>
              <a:t>, 2025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Slide Background">
            <a:extLst>
              <a:ext uri="{FF2B5EF4-FFF2-40B4-BE49-F238E27FC236}">
                <a16:creationId xmlns:a16="http://schemas.microsoft.com/office/drawing/2014/main" id="{649C91A9-84E7-4BF0-9026-62F01380D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1" y="762001"/>
            <a:ext cx="3060272" cy="1708242"/>
          </a:xfrm>
        </p:spPr>
        <p:txBody>
          <a:bodyPr anchor="ctr">
            <a:normAutofit/>
          </a:bodyPr>
          <a:lstStyle/>
          <a:p>
            <a:r>
              <a:rPr lang="en-US" sz="3500"/>
              <a:t>Project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2" y="2470244"/>
            <a:ext cx="3060271" cy="376983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700"/>
              <a:t>Develop a self-balancing two-wheeled electric scooter.</a:t>
            </a:r>
          </a:p>
          <a:p>
            <a:pPr>
              <a:lnSpc>
                <a:spcPct val="90000"/>
              </a:lnSpc>
            </a:pPr>
            <a:r>
              <a:rPr lang="en-US" sz="1700"/>
              <a:t>Utilize dual counter-rotating gyroscopes for roll stabilization.</a:t>
            </a:r>
          </a:p>
          <a:p>
            <a:pPr>
              <a:lnSpc>
                <a:spcPct val="90000"/>
              </a:lnSpc>
            </a:pPr>
            <a:r>
              <a:rPr lang="en-US" sz="1700"/>
              <a:t>Implement a LabVIEW-based control system.</a:t>
            </a:r>
          </a:p>
          <a:p>
            <a:pPr>
              <a:lnSpc>
                <a:spcPct val="90000"/>
              </a:lnSpc>
            </a:pPr>
            <a:r>
              <a:rPr lang="en-US" sz="1700"/>
              <a:t>Applications: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/>
              <a:t>	- Urban personal transport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/>
              <a:t>	- Mobility innovation 		  platforms</a:t>
            </a:r>
          </a:p>
        </p:txBody>
      </p:sp>
      <p:sp>
        <p:nvSpPr>
          <p:cNvPr id="3081" name="Rectangle 3080">
            <a:extLst>
              <a:ext uri="{FF2B5EF4-FFF2-40B4-BE49-F238E27FC236}">
                <a16:creationId xmlns:a16="http://schemas.microsoft.com/office/drawing/2014/main" id="{9B47378D-AD27-45D0-8C1C-5B1098DCC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50" y="0"/>
            <a:ext cx="508634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77800" dist="215900" dir="8520000" sx="94000" sy="94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Figure 1 from Two Parallel Single-Gimbal Control Moment Gyros Actuated ...">
            <a:extLst>
              <a:ext uri="{FF2B5EF4-FFF2-40B4-BE49-F238E27FC236}">
                <a16:creationId xmlns:a16="http://schemas.microsoft.com/office/drawing/2014/main" id="{DFE7865D-7F99-CBE8-8806-B6BFE0CF90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2000" y="1968994"/>
            <a:ext cx="4000647" cy="2920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Sensor and Actuators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/>
              <a:t>Sensor: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000"/>
              <a:t>	- IMU: MPU-6050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000"/>
              <a:t>	</a:t>
            </a:r>
          </a:p>
          <a:p>
            <a:pPr>
              <a:lnSpc>
                <a:spcPct val="90000"/>
              </a:lnSpc>
            </a:pPr>
            <a:r>
              <a:rPr lang="en-US" sz="2000"/>
              <a:t>Actuators: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000"/>
              <a:t>	- 2 x Stepper motors </a:t>
            </a:r>
            <a:r>
              <a:rPr lang="en-US" sz="2000" b="0" i="0" u="none" strike="noStrike">
                <a:solidFill>
                  <a:srgbClr val="0F1111"/>
                </a:solidFill>
                <a:effectLst/>
              </a:rPr>
              <a:t>Nema 17 Motor 	   	   42BYGH </a:t>
            </a:r>
            <a:r>
              <a:rPr lang="en-US" sz="2000"/>
              <a:t>(for gimbal precession)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000"/>
              <a:t>	- 2 x DC/BLDC motors (for gyro spin)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000"/>
              <a:t>	</a:t>
            </a:r>
          </a:p>
          <a:p>
            <a:pPr>
              <a:lnSpc>
                <a:spcPct val="90000"/>
              </a:lnSpc>
            </a:pPr>
            <a:r>
              <a:rPr lang="en-US" sz="2000"/>
              <a:t>Arduino Uno for data acquisition and LabVIEW</a:t>
            </a:r>
          </a:p>
          <a:p>
            <a:pPr>
              <a:lnSpc>
                <a:spcPct val="90000"/>
              </a:lnSpc>
            </a:pPr>
            <a:endParaRPr lang="en-US"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/>
              <a:t>Mathematical Background</a:t>
            </a: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onnsiteX0" fmla="*/ 0 w 2441321"/>
              <a:gd name="connsiteY0" fmla="*/ 0 h 18288"/>
              <a:gd name="connsiteX1" fmla="*/ 585917 w 2441321"/>
              <a:gd name="connsiteY1" fmla="*/ 0 h 18288"/>
              <a:gd name="connsiteX2" fmla="*/ 1196247 w 2441321"/>
              <a:gd name="connsiteY2" fmla="*/ 0 h 18288"/>
              <a:gd name="connsiteX3" fmla="*/ 1806578 w 2441321"/>
              <a:gd name="connsiteY3" fmla="*/ 0 h 18288"/>
              <a:gd name="connsiteX4" fmla="*/ 2441321 w 2441321"/>
              <a:gd name="connsiteY4" fmla="*/ 0 h 18288"/>
              <a:gd name="connsiteX5" fmla="*/ 2441321 w 2441321"/>
              <a:gd name="connsiteY5" fmla="*/ 18288 h 18288"/>
              <a:gd name="connsiteX6" fmla="*/ 1830991 w 2441321"/>
              <a:gd name="connsiteY6" fmla="*/ 18288 h 18288"/>
              <a:gd name="connsiteX7" fmla="*/ 1269487 w 2441321"/>
              <a:gd name="connsiteY7" fmla="*/ 18288 h 18288"/>
              <a:gd name="connsiteX8" fmla="*/ 707983 w 2441321"/>
              <a:gd name="connsiteY8" fmla="*/ 18288 h 18288"/>
              <a:gd name="connsiteX9" fmla="*/ 0 w 2441321"/>
              <a:gd name="connsiteY9" fmla="*/ 18288 h 18288"/>
              <a:gd name="connsiteX10" fmla="*/ 0 w 2441321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202" y="2807208"/>
            <a:ext cx="2571750" cy="3410712"/>
          </a:xfrm>
        </p:spPr>
        <p:txBody>
          <a:bodyPr anchor="t">
            <a:normAutofit/>
          </a:bodyPr>
          <a:lstStyle/>
          <a:p>
            <a:r>
              <a:rPr lang="en-US" sz="1900"/>
              <a:t>Dual counter-rotating gyroscope system</a:t>
            </a:r>
          </a:p>
          <a:p>
            <a:r>
              <a:rPr lang="en-US" sz="1900"/>
              <a:t> Gimbal frame assemblies</a:t>
            </a:r>
          </a:p>
          <a:p>
            <a:r>
              <a:rPr lang="en-US" sz="1900"/>
              <a:t>Stepper-actuated gimbal tilt mechanism</a:t>
            </a:r>
          </a:p>
          <a:p>
            <a:r>
              <a:rPr lang="en-US" sz="1900"/>
              <a:t>Scooter chassis with inline wheels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AE3988-8AD0-E76D-F737-89727D0706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767" t="1479" r="6976" b="6341"/>
          <a:stretch/>
        </p:blipFill>
        <p:spPr>
          <a:xfrm>
            <a:off x="3919615" y="640080"/>
            <a:ext cx="4320004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B761F-4A3E-53F2-9A6E-AD8BC9C76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86066"/>
          </a:xfrm>
        </p:spPr>
        <p:txBody>
          <a:bodyPr/>
          <a:lstStyle/>
          <a:p>
            <a:r>
              <a:rPr lang="en-US" dirty="0"/>
              <a:t>Governing Equation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78BFC-5A87-D827-D00E-44C7A0AEB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182368"/>
            <a:ext cx="8229600" cy="4400994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en-US" sz="1600" dirty="0"/>
              <a:t>As derived in “Gyrostabilizer Vehicular Technology” by Townsend and Shenoi. The equation above represents the governing equation for a contra-rotating  gyroscopic stabilization system.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 err="1"/>
              <a:t>I_b</a:t>
            </a:r>
            <a:r>
              <a:rPr lang="en-US" sz="1600" dirty="0"/>
              <a:t>​  = MOI of the vehicle about the roll axis</a:t>
            </a:r>
          </a:p>
          <a:p>
            <a:pPr marL="0" indent="0">
              <a:buNone/>
            </a:pPr>
            <a:r>
              <a:rPr lang="el-GR" sz="1600" dirty="0"/>
              <a:t>ϕ = </a:t>
            </a:r>
            <a:r>
              <a:rPr lang="en-US" sz="1600" dirty="0"/>
              <a:t>Roll angle</a:t>
            </a:r>
          </a:p>
          <a:p>
            <a:pPr marL="0" indent="0">
              <a:buNone/>
            </a:pPr>
            <a:r>
              <a:rPr lang="el-GR" sz="1600" dirty="0"/>
              <a:t>ϕ˙​ ,ϕ¨​  = </a:t>
            </a:r>
            <a:r>
              <a:rPr lang="en-US" sz="1600" dirty="0"/>
              <a:t>Roll rate and roll acceleration</a:t>
            </a:r>
          </a:p>
          <a:p>
            <a:pPr marL="0" indent="0">
              <a:buNone/>
            </a:pPr>
            <a:r>
              <a:rPr lang="en-US" sz="1600" dirty="0"/>
              <a:t>I_s​  = Moment of inertia of one flywheel</a:t>
            </a:r>
          </a:p>
          <a:p>
            <a:pPr marL="0" indent="0">
              <a:buNone/>
            </a:pPr>
            <a:r>
              <a:rPr lang="el-GR" sz="1600" dirty="0"/>
              <a:t>ω = </a:t>
            </a:r>
            <a:r>
              <a:rPr lang="en-US" sz="1600" dirty="0"/>
              <a:t>Flywheel spin rate (rad/s)</a:t>
            </a:r>
          </a:p>
          <a:p>
            <a:pPr marL="0" indent="0">
              <a:buNone/>
            </a:pPr>
            <a:r>
              <a:rPr lang="en-US" sz="1600" dirty="0" err="1"/>
              <a:t>K_p</a:t>
            </a:r>
            <a:r>
              <a:rPr lang="en-US" sz="1600" dirty="0"/>
              <a:t>​ , </a:t>
            </a:r>
            <a:r>
              <a:rPr lang="en-US" sz="1600" dirty="0" err="1"/>
              <a:t>K_d</a:t>
            </a:r>
            <a:r>
              <a:rPr lang="en-US" sz="1600" dirty="0"/>
              <a:t>​  = Control gains for position and velocity (PID-like gains)</a:t>
            </a:r>
          </a:p>
          <a:p>
            <a:pPr marL="0" indent="0">
              <a:buNone/>
            </a:pPr>
            <a:r>
              <a:rPr lang="en-US" sz="1600" dirty="0" err="1"/>
              <a:t>mgh</a:t>
            </a:r>
            <a:r>
              <a:rPr lang="en-US" sz="1600" dirty="0"/>
              <a:t> = Gravitational restoring torque (mass × gravity × height of CG)</a:t>
            </a:r>
          </a:p>
          <a:p>
            <a:pPr marL="0" indent="0">
              <a:buNone/>
            </a:pPr>
            <a:r>
              <a:rPr lang="en-US" sz="1600" dirty="0"/>
              <a:t>(</a:t>
            </a:r>
            <a:r>
              <a:rPr lang="en-US" sz="1600" dirty="0" err="1"/>
              <a:t>I_b</a:t>
            </a:r>
            <a:r>
              <a:rPr lang="en-US" sz="1600" dirty="0"/>
              <a:t>)*​</a:t>
            </a:r>
            <a:r>
              <a:rPr lang="el-GR" sz="1600" dirty="0"/>
              <a:t>ϕ¨</a:t>
            </a:r>
            <a:r>
              <a:rPr lang="en-US" sz="1600" dirty="0"/>
              <a:t> -&gt; This represents the internal resistance to change calculated by the roll acceleration and the MOI about the roll axis </a:t>
            </a:r>
            <a:r>
              <a:rPr lang="en-US" sz="1600" dirty="0" err="1"/>
              <a:t>ie</a:t>
            </a:r>
            <a:r>
              <a:rPr lang="en-US" sz="1600" dirty="0"/>
              <a:t> roll inertia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l-GR" sz="1600" dirty="0"/>
              <a:t>(2</a:t>
            </a:r>
            <a:r>
              <a:rPr lang="en-US" sz="1600" dirty="0"/>
              <a:t>(I_s)​</a:t>
            </a:r>
            <a:r>
              <a:rPr lang="el-GR" sz="1600" dirty="0"/>
              <a:t>ω</a:t>
            </a:r>
            <a:r>
              <a:rPr lang="en-US" sz="1600" dirty="0"/>
              <a:t>(</a:t>
            </a:r>
            <a:r>
              <a:rPr lang="en-US" sz="1600" dirty="0" err="1"/>
              <a:t>K_d</a:t>
            </a:r>
            <a:r>
              <a:rPr lang="en-US" sz="1600" dirty="0"/>
              <a:t>)​)</a:t>
            </a:r>
            <a:r>
              <a:rPr lang="el-GR" sz="1600" dirty="0"/>
              <a:t>ϕ˙​</a:t>
            </a:r>
            <a:r>
              <a:rPr lang="en-US" sz="1600" dirty="0"/>
              <a:t> -&gt;  This represents the damping  and prevents overshooting and oscillation. To increase or decrease the damping you change the var </a:t>
            </a:r>
            <a:r>
              <a:rPr lang="en-US" sz="1600" dirty="0" err="1"/>
              <a:t>K_d</a:t>
            </a:r>
            <a:r>
              <a:rPr lang="en-US" sz="1600" dirty="0"/>
              <a:t> 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l-GR" sz="1600" dirty="0"/>
              <a:t>(</a:t>
            </a:r>
            <a:r>
              <a:rPr lang="en-US" sz="1600" dirty="0"/>
              <a:t>mgh+2(I_s)​</a:t>
            </a:r>
            <a:r>
              <a:rPr lang="el-GR" sz="1600" dirty="0"/>
              <a:t>ω</a:t>
            </a:r>
            <a:r>
              <a:rPr lang="en-US" sz="1600" dirty="0"/>
              <a:t>(</a:t>
            </a:r>
            <a:r>
              <a:rPr lang="en-US" sz="1600" dirty="0" err="1"/>
              <a:t>K_p</a:t>
            </a:r>
            <a:r>
              <a:rPr lang="en-US" sz="1600" dirty="0"/>
              <a:t>)​)</a:t>
            </a:r>
            <a:r>
              <a:rPr lang="el-GR" sz="1600" dirty="0"/>
              <a:t>ϕ</a:t>
            </a:r>
            <a:r>
              <a:rPr lang="en-US" sz="1600" dirty="0"/>
              <a:t> -&gt; This Represents the centering force AKA now hard the device attempts to right itself upwards. To change the strength, change the value of the var </a:t>
            </a:r>
            <a:r>
              <a:rPr lang="en-US" sz="1600" dirty="0" err="1"/>
              <a:t>K_p</a:t>
            </a:r>
            <a:r>
              <a:rPr lang="en-US" sz="1600" dirty="0"/>
              <a:t>. This eq also shows the deviation from the desired roll angle.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C367DB-2D4E-1713-CB28-888F8C85EA63}"/>
              </a:ext>
            </a:extLst>
          </p:cNvPr>
          <p:cNvSpPr txBox="1"/>
          <p:nvPr/>
        </p:nvSpPr>
        <p:spPr>
          <a:xfrm>
            <a:off x="0" y="1237365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(</a:t>
            </a:r>
            <a:r>
              <a:rPr lang="en-US" sz="3200" dirty="0" err="1"/>
              <a:t>I_b</a:t>
            </a:r>
            <a:r>
              <a:rPr lang="en-US" sz="3200" dirty="0"/>
              <a:t>)*​</a:t>
            </a:r>
            <a:r>
              <a:rPr lang="el-GR" sz="3200" dirty="0"/>
              <a:t>ϕ¨​+(2</a:t>
            </a:r>
            <a:r>
              <a:rPr lang="en-US" sz="3200" dirty="0"/>
              <a:t>(I_s)​</a:t>
            </a:r>
            <a:r>
              <a:rPr lang="el-GR" sz="3200" dirty="0"/>
              <a:t>ω</a:t>
            </a:r>
            <a:r>
              <a:rPr lang="en-US" sz="3200" dirty="0"/>
              <a:t>(</a:t>
            </a:r>
            <a:r>
              <a:rPr lang="en-US" sz="3200" dirty="0" err="1"/>
              <a:t>K_d</a:t>
            </a:r>
            <a:r>
              <a:rPr lang="en-US" sz="3200" dirty="0"/>
              <a:t>)​)</a:t>
            </a:r>
            <a:r>
              <a:rPr lang="el-GR" sz="3200" dirty="0"/>
              <a:t>ϕ˙​+(</a:t>
            </a:r>
            <a:r>
              <a:rPr lang="en-US" sz="3200" dirty="0"/>
              <a:t>mgh+2(I_s)​</a:t>
            </a:r>
            <a:r>
              <a:rPr lang="el-GR" sz="3200" dirty="0"/>
              <a:t>ω</a:t>
            </a:r>
            <a:r>
              <a:rPr lang="en-US" sz="3200" dirty="0"/>
              <a:t>(</a:t>
            </a:r>
            <a:r>
              <a:rPr lang="en-US" sz="3200" dirty="0" err="1"/>
              <a:t>K_p</a:t>
            </a:r>
            <a:r>
              <a:rPr lang="en-US" sz="3200" dirty="0"/>
              <a:t>)​)</a:t>
            </a:r>
            <a:r>
              <a:rPr lang="el-GR" sz="3200" dirty="0"/>
              <a:t>ϕ=0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846305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5200CD-136D-FD0D-8F40-395B56979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326369"/>
            <a:ext cx="6694900" cy="664799"/>
          </a:xfrm>
        </p:spPr>
        <p:txBody>
          <a:bodyPr anchor="b">
            <a:normAutofit fontScale="90000"/>
          </a:bodyPr>
          <a:lstStyle/>
          <a:p>
            <a:r>
              <a:rPr lang="en-US" sz="4700">
                <a:latin typeface="Times"/>
                <a:cs typeface="Times"/>
              </a:rPr>
              <a:t>Block Diagram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onnsiteX0" fmla="*/ 0 w 2441321"/>
              <a:gd name="connsiteY0" fmla="*/ 0 h 18288"/>
              <a:gd name="connsiteX1" fmla="*/ 585917 w 2441321"/>
              <a:gd name="connsiteY1" fmla="*/ 0 h 18288"/>
              <a:gd name="connsiteX2" fmla="*/ 1196247 w 2441321"/>
              <a:gd name="connsiteY2" fmla="*/ 0 h 18288"/>
              <a:gd name="connsiteX3" fmla="*/ 1806578 w 2441321"/>
              <a:gd name="connsiteY3" fmla="*/ 0 h 18288"/>
              <a:gd name="connsiteX4" fmla="*/ 2441321 w 2441321"/>
              <a:gd name="connsiteY4" fmla="*/ 0 h 18288"/>
              <a:gd name="connsiteX5" fmla="*/ 2441321 w 2441321"/>
              <a:gd name="connsiteY5" fmla="*/ 18288 h 18288"/>
              <a:gd name="connsiteX6" fmla="*/ 1830991 w 2441321"/>
              <a:gd name="connsiteY6" fmla="*/ 18288 h 18288"/>
              <a:gd name="connsiteX7" fmla="*/ 1269487 w 2441321"/>
              <a:gd name="connsiteY7" fmla="*/ 18288 h 18288"/>
              <a:gd name="connsiteX8" fmla="*/ 707983 w 2441321"/>
              <a:gd name="connsiteY8" fmla="*/ 18288 h 18288"/>
              <a:gd name="connsiteX9" fmla="*/ 0 w 2441321"/>
              <a:gd name="connsiteY9" fmla="*/ 18288 h 18288"/>
              <a:gd name="connsiteX10" fmla="*/ 0 w 2441321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8E28325-4B47-297E-3A61-B52C428D7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5" y="970058"/>
            <a:ext cx="4909939" cy="4986903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1600" b="1">
                <a:latin typeface="Times"/>
                <a:ea typeface="+mn-lt"/>
                <a:cs typeface="Times"/>
              </a:rPr>
              <a:t>DTG Control System Purpose:</a:t>
            </a:r>
            <a:endParaRPr lang="en-US" sz="1600" b="1">
              <a:latin typeface="Times"/>
              <a:cs typeface="Times"/>
            </a:endParaRPr>
          </a:p>
          <a:p>
            <a:pPr>
              <a:buNone/>
            </a:pPr>
            <a:r>
              <a:rPr lang="en-US" sz="1600">
                <a:latin typeface="Times"/>
                <a:ea typeface="+mn-lt"/>
                <a:cs typeface="Times"/>
              </a:rPr>
              <a:t>Tracks rotor motion relative to the case while measuring angular rate.</a:t>
            </a:r>
            <a:endParaRPr lang="en-US" sz="1600">
              <a:latin typeface="Times"/>
              <a:cs typeface="Times"/>
            </a:endParaRPr>
          </a:p>
          <a:p>
            <a:pPr>
              <a:buNone/>
            </a:pPr>
            <a:r>
              <a:rPr lang="en-US" sz="1600">
                <a:latin typeface="Times"/>
                <a:ea typeface="+mn-lt"/>
                <a:cs typeface="Times"/>
              </a:rPr>
              <a:t>The rotor acts as the plant controlled by two primary loops:</a:t>
            </a:r>
            <a:endParaRPr lang="en-US" sz="1600">
              <a:latin typeface="Times"/>
              <a:cs typeface="Times"/>
            </a:endParaRPr>
          </a:p>
          <a:p>
            <a:pPr>
              <a:buNone/>
            </a:pPr>
            <a:r>
              <a:rPr lang="en-US" sz="1600">
                <a:latin typeface="Times"/>
                <a:ea typeface="+mn-lt"/>
                <a:cs typeface="Times"/>
              </a:rPr>
              <a:t>Direct channel control loop.</a:t>
            </a:r>
            <a:endParaRPr lang="en-US" sz="1600">
              <a:latin typeface="Times"/>
              <a:cs typeface="Times"/>
            </a:endParaRPr>
          </a:p>
          <a:p>
            <a:pPr>
              <a:buNone/>
            </a:pPr>
            <a:r>
              <a:rPr lang="en-US" sz="1600">
                <a:latin typeface="Times"/>
                <a:ea typeface="+mn-lt"/>
                <a:cs typeface="Times"/>
              </a:rPr>
              <a:t>Inverse channel control loop (refer to Figure 3 in the paper).</a:t>
            </a:r>
            <a:endParaRPr lang="en-US" sz="1600">
              <a:latin typeface="Times"/>
              <a:cs typeface="Times"/>
            </a:endParaRPr>
          </a:p>
          <a:p>
            <a:pPr>
              <a:buNone/>
            </a:pPr>
            <a:r>
              <a:rPr lang="en-US" sz="1600" b="1">
                <a:latin typeface="Times"/>
                <a:ea typeface="+mn-lt"/>
                <a:cs typeface="Times"/>
              </a:rPr>
              <a:t>Electronic Circuitry Components (see Figure 4):</a:t>
            </a:r>
            <a:endParaRPr lang="en-US" sz="1600" b="1">
              <a:latin typeface="Times"/>
              <a:cs typeface="Times"/>
            </a:endParaRPr>
          </a:p>
          <a:p>
            <a:pPr>
              <a:buNone/>
            </a:pPr>
            <a:r>
              <a:rPr lang="en-US" sz="1600">
                <a:latin typeface="Times"/>
                <a:ea typeface="+mn-lt"/>
                <a:cs typeface="Times"/>
              </a:rPr>
              <a:t>Includes an oscillator that excites four primary pick-off coils (two per axis).</a:t>
            </a:r>
            <a:endParaRPr lang="en-US" sz="1600">
              <a:latin typeface="Times"/>
              <a:cs typeface="Times"/>
            </a:endParaRPr>
          </a:p>
          <a:p>
            <a:pPr>
              <a:buNone/>
            </a:pPr>
            <a:r>
              <a:rPr lang="en-US" sz="1600">
                <a:latin typeface="Times"/>
                <a:ea typeface="+mn-lt"/>
                <a:cs typeface="Times"/>
              </a:rPr>
              <a:t>Coil voltages feed into a demodulator for:</a:t>
            </a:r>
            <a:endParaRPr lang="en-US" sz="1600">
              <a:latin typeface="Times"/>
              <a:cs typeface="Times"/>
            </a:endParaRPr>
          </a:p>
          <a:p>
            <a:pPr>
              <a:buNone/>
            </a:pPr>
            <a:r>
              <a:rPr lang="en-US" sz="1600">
                <a:latin typeface="Times"/>
                <a:ea typeface="+mn-lt"/>
                <a:cs typeface="Times"/>
              </a:rPr>
              <a:t>Signal rectification.</a:t>
            </a:r>
            <a:endParaRPr lang="en-US" sz="1600">
              <a:latin typeface="Times"/>
              <a:cs typeface="Times"/>
            </a:endParaRPr>
          </a:p>
          <a:p>
            <a:pPr>
              <a:buNone/>
            </a:pPr>
            <a:r>
              <a:rPr lang="en-US" sz="1600">
                <a:latin typeface="Times"/>
                <a:ea typeface="+mn-lt"/>
                <a:cs typeface="Times"/>
              </a:rPr>
              <a:t>Filtering.</a:t>
            </a:r>
            <a:endParaRPr lang="en-US" sz="1600">
              <a:latin typeface="Times"/>
              <a:cs typeface="Times"/>
            </a:endParaRPr>
          </a:p>
          <a:p>
            <a:pPr>
              <a:buNone/>
            </a:pPr>
            <a:r>
              <a:rPr lang="en-US" sz="1600">
                <a:latin typeface="Times"/>
                <a:ea typeface="+mn-lt"/>
                <a:cs typeface="Times"/>
              </a:rPr>
              <a:t>Combination with complementary pickoff signals.</a:t>
            </a:r>
            <a:endParaRPr lang="en-US" sz="1600">
              <a:latin typeface="Times"/>
              <a:ea typeface="Calibri"/>
              <a:cs typeface="Times"/>
            </a:endParaRPr>
          </a:p>
          <a:p>
            <a:pPr>
              <a:buNone/>
            </a:pPr>
            <a:endParaRPr lang="en-US" sz="1600">
              <a:latin typeface="Times"/>
              <a:ea typeface="+mn-lt"/>
              <a:cs typeface="Times"/>
            </a:endParaRPr>
          </a:p>
          <a:p>
            <a:pPr>
              <a:buNone/>
            </a:pPr>
            <a:r>
              <a:rPr lang="en-US" sz="1600" b="1">
                <a:latin typeface="Times"/>
                <a:ea typeface="+mn-lt"/>
                <a:cs typeface="Times"/>
              </a:rPr>
              <a:t>Key Functionality:</a:t>
            </a:r>
            <a:endParaRPr lang="en-US" sz="1600" b="1">
              <a:latin typeface="Times"/>
              <a:cs typeface="Times"/>
            </a:endParaRPr>
          </a:p>
          <a:p>
            <a:pPr>
              <a:buNone/>
            </a:pPr>
            <a:r>
              <a:rPr lang="en-US" sz="1600">
                <a:latin typeface="Times"/>
                <a:ea typeface="+mn-lt"/>
                <a:cs typeface="Times"/>
              </a:rPr>
              <a:t>Ensures effective signal processing for precise rotor tracking.</a:t>
            </a:r>
            <a:endParaRPr lang="en-US" sz="1600">
              <a:latin typeface="Times"/>
              <a:cs typeface="Times"/>
            </a:endParaRPr>
          </a:p>
          <a:p>
            <a:pPr marL="0" indent="0">
              <a:buNone/>
            </a:pPr>
            <a:r>
              <a:rPr lang="en-US" sz="1600">
                <a:latin typeface="Times"/>
                <a:ea typeface="+mn-lt"/>
                <a:cs typeface="Times"/>
              </a:rPr>
              <a:t>Enables accurate angular rate measurement.</a:t>
            </a:r>
            <a:endParaRPr lang="en-US" sz="1600">
              <a:latin typeface="Times"/>
              <a:cs typeface="Times"/>
            </a:endParaRPr>
          </a:p>
        </p:txBody>
      </p:sp>
      <p:pic>
        <p:nvPicPr>
          <p:cNvPr id="4" name="Content Placeholder 3" descr="A diagram of a device&#10;&#10;AI-generated content may be incorrect.">
            <a:extLst>
              <a:ext uri="{FF2B5EF4-FFF2-40B4-BE49-F238E27FC236}">
                <a16:creationId xmlns:a16="http://schemas.microsoft.com/office/drawing/2014/main" id="{7D4C19A4-5C91-0516-54A2-19991610B5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27" r="2481" b="263"/>
          <a:stretch/>
        </p:blipFill>
        <p:spPr>
          <a:xfrm>
            <a:off x="5046036" y="1166659"/>
            <a:ext cx="4099413" cy="3324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608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6" name="Freeform: Shape 35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341754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7" name="Freeform: Shape 36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334896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96012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919" y="2443480"/>
            <a:ext cx="25374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Content Placeholder 7">
            <a:extLst>
              <a:ext uri="{FF2B5EF4-FFF2-40B4-BE49-F238E27FC236}">
                <a16:creationId xmlns:a16="http://schemas.microsoft.com/office/drawing/2014/main" id="{4DF716E2-9E7D-20E7-323D-78514A67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6919" y="2080317"/>
            <a:ext cx="2558304" cy="3457778"/>
          </a:xfrm>
        </p:spPr>
        <p:txBody>
          <a:bodyPr anchor="t">
            <a:normAutofit/>
          </a:bodyPr>
          <a:lstStyle/>
          <a:p>
            <a:pPr algn="ctr">
              <a:buNone/>
            </a:pPr>
            <a:r>
              <a:rPr lang="en-US" sz="2000" i="1" dirty="0">
                <a:latin typeface="Times"/>
                <a:ea typeface="+mn-lt"/>
                <a:cs typeface="+mn-lt"/>
              </a:rPr>
              <a:t>Fig. 4. Main Components of the Control System Electronics (Modeling and Analysis of a Dynamically Tuned Gyroscope)</a:t>
            </a:r>
            <a:endParaRPr lang="en-US" sz="2000" dirty="0">
              <a:latin typeface="Times"/>
              <a:cs typeface="Times"/>
            </a:endParaRPr>
          </a:p>
          <a:p>
            <a:pPr marL="0" indent="0">
              <a:buNone/>
            </a:pPr>
            <a:endParaRPr lang="en-US" sz="1500" dirty="0">
              <a:ea typeface="Calibri"/>
              <a:cs typeface="Calibri"/>
            </a:endParaRPr>
          </a:p>
        </p:txBody>
      </p:sp>
      <p:pic>
        <p:nvPicPr>
          <p:cNvPr id="4" name="Content Placeholder 3" descr="A diagram of a system&#10;&#10;AI-generated content may be incorrect.">
            <a:extLst>
              <a:ext uri="{FF2B5EF4-FFF2-40B4-BE49-F238E27FC236}">
                <a16:creationId xmlns:a16="http://schemas.microsoft.com/office/drawing/2014/main" id="{96E393D0-6B92-69CC-9D8E-7D181F070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758" y="1436805"/>
            <a:ext cx="5191506" cy="410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864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520" y="741391"/>
            <a:ext cx="2124993" cy="1616203"/>
          </a:xfrm>
        </p:spPr>
        <p:txBody>
          <a:bodyPr anchor="b">
            <a:normAutofit/>
          </a:bodyPr>
          <a:lstStyle/>
          <a:p>
            <a:r>
              <a:rPr lang="en-US" sz="2800"/>
              <a:t>Design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520" y="2533476"/>
            <a:ext cx="2124993" cy="3447832"/>
          </a:xfrm>
        </p:spPr>
        <p:txBody>
          <a:bodyPr anchor="t">
            <a:normAutofit/>
          </a:bodyPr>
          <a:lstStyle/>
          <a:p>
            <a:r>
              <a:rPr lang="en-US" sz="1700"/>
              <a:t>Scooter Frame Concept</a:t>
            </a:r>
          </a:p>
          <a:p>
            <a:r>
              <a:rPr lang="en-US" sz="1700"/>
              <a:t>Gyro Mounting Assembly (CAD)</a:t>
            </a:r>
          </a:p>
          <a:p>
            <a:r>
              <a:rPr lang="en-US" sz="1700"/>
              <a:t>Gimbal Pivot System (CAD)</a:t>
            </a:r>
          </a:p>
          <a:p>
            <a:endParaRPr lang="en-US" sz="1700"/>
          </a:p>
          <a:p>
            <a:endParaRPr lang="en-US" sz="170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68E5CCC-C8B4-1C26-7EEC-22D3D6E68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715136" y="3163730"/>
            <a:ext cx="123362" cy="5124875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5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AA4F2E6-C9E1-359F-FAB8-8E3432107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688967" y="5137561"/>
            <a:ext cx="123362" cy="1177214"/>
          </a:xfrm>
          <a:prstGeom prst="rect">
            <a:avLst/>
          </a:prstGeom>
          <a:gradFill>
            <a:gsLst>
              <a:gs pos="19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drawing of a machine&#10;&#10;AI-generated content may be incorrect.">
            <a:extLst>
              <a:ext uri="{FF2B5EF4-FFF2-40B4-BE49-F238E27FC236}">
                <a16:creationId xmlns:a16="http://schemas.microsoft.com/office/drawing/2014/main" id="{F4F36AA4-6D78-364C-1F9B-38DCDC279A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140" r="11813"/>
          <a:stretch/>
        </p:blipFill>
        <p:spPr bwMode="auto">
          <a:xfrm>
            <a:off x="5896818" y="1851501"/>
            <a:ext cx="3177540" cy="230187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Picture 5" descr="A robot with wheels and wires on a table&#10;&#10;AI-generated content may be incorrect.">
            <a:extLst>
              <a:ext uri="{FF2B5EF4-FFF2-40B4-BE49-F238E27FC236}">
                <a16:creationId xmlns:a16="http://schemas.microsoft.com/office/drawing/2014/main" id="{53A042FE-A71A-3FC7-8907-5D27561901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956838" y="1337098"/>
            <a:ext cx="4765655" cy="357424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3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065" name="Rectangle 2064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9518" y="41778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Mechanical Design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8AA5A6-C293-1A6A-E7CB-BDC12B1FBF8F}"/>
              </a:ext>
            </a:extLst>
          </p:cNvPr>
          <p:cNvSpPr/>
          <p:nvPr/>
        </p:nvSpPr>
        <p:spPr>
          <a:xfrm>
            <a:off x="4794855" y="4000499"/>
            <a:ext cx="1339841" cy="114300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164B63-820B-26B6-D8C3-5EA71635CA40}"/>
              </a:ext>
            </a:extLst>
          </p:cNvPr>
          <p:cNvSpPr/>
          <p:nvPr/>
        </p:nvSpPr>
        <p:spPr>
          <a:xfrm>
            <a:off x="2658566" y="4000499"/>
            <a:ext cx="1339841" cy="114300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grey and white background&#10;&#10;AI-generated content may be incorrect.">
            <a:extLst>
              <a:ext uri="{FF2B5EF4-FFF2-40B4-BE49-F238E27FC236}">
                <a16:creationId xmlns:a16="http://schemas.microsoft.com/office/drawing/2014/main" id="{09CB14E0-4341-EDC2-21F4-F43E56FAA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914" y="3146063"/>
            <a:ext cx="2137136" cy="417786"/>
          </a:xfrm>
          <a:prstGeom prst="rect">
            <a:avLst/>
          </a:prstGeom>
        </p:spPr>
      </p:pic>
      <p:pic>
        <p:nvPicPr>
          <p:cNvPr id="14" name="Picture 13" descr="A grey and white background&#10;&#10;AI-generated content may be incorrect.">
            <a:extLst>
              <a:ext uri="{FF2B5EF4-FFF2-40B4-BE49-F238E27FC236}">
                <a16:creationId xmlns:a16="http://schemas.microsoft.com/office/drawing/2014/main" id="{9A56009C-B54D-EC7A-8AF4-3B20A0D7E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0974" y="3178358"/>
            <a:ext cx="2137136" cy="417786"/>
          </a:xfrm>
          <a:prstGeom prst="rect">
            <a:avLst/>
          </a:prstGeom>
        </p:spPr>
      </p:pic>
      <p:pic>
        <p:nvPicPr>
          <p:cNvPr id="16" name="Picture 15" descr="A grey and black object&#10;&#10;AI-generated content may be incorrect.">
            <a:extLst>
              <a:ext uri="{FF2B5EF4-FFF2-40B4-BE49-F238E27FC236}">
                <a16:creationId xmlns:a16="http://schemas.microsoft.com/office/drawing/2014/main" id="{88F310B8-D44B-E912-D69A-28B6EB982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1022" y="4171405"/>
            <a:ext cx="749300" cy="736600"/>
          </a:xfrm>
          <a:prstGeom prst="rect">
            <a:avLst/>
          </a:prstGeom>
        </p:spPr>
      </p:pic>
      <p:pic>
        <p:nvPicPr>
          <p:cNvPr id="17" name="Picture 16" descr="A grey and black object&#10;&#10;AI-generated content may be incorrect.">
            <a:extLst>
              <a:ext uri="{FF2B5EF4-FFF2-40B4-BE49-F238E27FC236}">
                <a16:creationId xmlns:a16="http://schemas.microsoft.com/office/drawing/2014/main" id="{72B96E06-6417-3F7D-83CA-598DBD4CC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7441" y="3882765"/>
            <a:ext cx="84083" cy="305718"/>
          </a:xfrm>
          <a:prstGeom prst="rect">
            <a:avLst/>
          </a:prstGeom>
        </p:spPr>
      </p:pic>
      <p:pic>
        <p:nvPicPr>
          <p:cNvPr id="1026" name="Picture 2" descr="Stepper NEMA 17 Bipolar Motor 42 x 42 x 34 mm Philippines | Circuitrocks –  circuitrocks">
            <a:extLst>
              <a:ext uri="{FF2B5EF4-FFF2-40B4-BE49-F238E27FC236}">
                <a16:creationId xmlns:a16="http://schemas.microsoft.com/office/drawing/2014/main" id="{E2C441B9-8AE1-E98D-5E2E-A06172C8E9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46" t="9503" r="45430" b="28510"/>
          <a:stretch/>
        </p:blipFill>
        <p:spPr bwMode="auto">
          <a:xfrm rot="16200000">
            <a:off x="2839539" y="3995896"/>
            <a:ext cx="855995" cy="1087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Stepper NEMA 17 Bipolar Motor 42 x 42 x 34 mm Philippines | Circuitrocks –  circuitrocks">
            <a:extLst>
              <a:ext uri="{FF2B5EF4-FFF2-40B4-BE49-F238E27FC236}">
                <a16:creationId xmlns:a16="http://schemas.microsoft.com/office/drawing/2014/main" id="{9C829843-266E-1C49-6067-2450CBBCCC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46" t="9503" r="45430" b="28510"/>
          <a:stretch/>
        </p:blipFill>
        <p:spPr bwMode="auto">
          <a:xfrm rot="5400000">
            <a:off x="5054699" y="4028191"/>
            <a:ext cx="855995" cy="1087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 descr="A grey and black object&#10;&#10;AI-generated content may be incorrect.">
            <a:extLst>
              <a:ext uri="{FF2B5EF4-FFF2-40B4-BE49-F238E27FC236}">
                <a16:creationId xmlns:a16="http://schemas.microsoft.com/office/drawing/2014/main" id="{FDD45FA7-DA81-9E3E-B327-2216F2BE8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439" y="4177972"/>
            <a:ext cx="749300" cy="736600"/>
          </a:xfrm>
          <a:prstGeom prst="rect">
            <a:avLst/>
          </a:prstGeom>
        </p:spPr>
      </p:pic>
      <p:pic>
        <p:nvPicPr>
          <p:cNvPr id="20" name="Picture 19" descr="A grey and black object&#10;&#10;AI-generated content may be incorrect.">
            <a:extLst>
              <a:ext uri="{FF2B5EF4-FFF2-40B4-BE49-F238E27FC236}">
                <a16:creationId xmlns:a16="http://schemas.microsoft.com/office/drawing/2014/main" id="{3F1B9A19-1556-D3E1-781F-1D1BF6D4B1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501" y="3884926"/>
            <a:ext cx="84083" cy="305718"/>
          </a:xfrm>
          <a:prstGeom prst="rect">
            <a:avLst/>
          </a:prstGeom>
        </p:spPr>
      </p:pic>
      <p:pic>
        <p:nvPicPr>
          <p:cNvPr id="1030" name="Picture 6" descr="T Slot 2040 Aluminium Extrusion Custom Aluminum Extrusions of China  Manufacturers - Aluminum Extrusion, Aluminum Profile | Made-in-China.com">
            <a:extLst>
              <a:ext uri="{FF2B5EF4-FFF2-40B4-BE49-F238E27FC236}">
                <a16:creationId xmlns:a16="http://schemas.microsoft.com/office/drawing/2014/main" id="{D8A77371-87A7-532A-7C99-93FE5D6AFE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5917" y="5196862"/>
            <a:ext cx="768820" cy="746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 descr="A grey and black object&#10;&#10;AI-generated content may be incorrect.">
            <a:extLst>
              <a:ext uri="{FF2B5EF4-FFF2-40B4-BE49-F238E27FC236}">
                <a16:creationId xmlns:a16="http://schemas.microsoft.com/office/drawing/2014/main" id="{E17A2D1B-4B72-080C-16A0-71209F668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3710050" y="5201911"/>
            <a:ext cx="202590" cy="736600"/>
          </a:xfrm>
          <a:prstGeom prst="rect">
            <a:avLst/>
          </a:prstGeom>
        </p:spPr>
      </p:pic>
      <p:pic>
        <p:nvPicPr>
          <p:cNvPr id="24" name="Picture 6" descr="T Slot 2040 Aluminium Extrusion Custom Aluminum Extrusions of China  Manufacturers - Aluminum Extrusion, Aluminum Profile | Made-in-China.com">
            <a:extLst>
              <a:ext uri="{FF2B5EF4-FFF2-40B4-BE49-F238E27FC236}">
                <a16:creationId xmlns:a16="http://schemas.microsoft.com/office/drawing/2014/main" id="{0E30C5A5-3C0F-07A6-2B35-2A632345D3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4855" y="5196862"/>
            <a:ext cx="768820" cy="746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 descr="A grey and black object&#10;&#10;AI-generated content may be incorrect.">
            <a:extLst>
              <a:ext uri="{FF2B5EF4-FFF2-40B4-BE49-F238E27FC236}">
                <a16:creationId xmlns:a16="http://schemas.microsoft.com/office/drawing/2014/main" id="{CD0F89FB-0AB9-9A46-2811-6F3C16E3D9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5024783" y="5201911"/>
            <a:ext cx="202590" cy="736600"/>
          </a:xfrm>
          <a:prstGeom prst="rect">
            <a:avLst/>
          </a:prstGeom>
        </p:spPr>
      </p:pic>
      <p:pic>
        <p:nvPicPr>
          <p:cNvPr id="26" name="Picture 25" descr="A grey and black object&#10;&#10;AI-generated content may be incorrect.">
            <a:extLst>
              <a:ext uri="{FF2B5EF4-FFF2-40B4-BE49-F238E27FC236}">
                <a16:creationId xmlns:a16="http://schemas.microsoft.com/office/drawing/2014/main" id="{AAA27DD6-5268-FFAB-8631-A657BE530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8905" y="4999997"/>
            <a:ext cx="4002930" cy="266795"/>
          </a:xfrm>
          <a:prstGeom prst="rect">
            <a:avLst/>
          </a:prstGeom>
        </p:spPr>
      </p:pic>
      <p:pic>
        <p:nvPicPr>
          <p:cNvPr id="1028" name="Picture 4" descr="H-901 ST | Tires by Name">
            <a:extLst>
              <a:ext uri="{FF2B5EF4-FFF2-40B4-BE49-F238E27FC236}">
                <a16:creationId xmlns:a16="http://schemas.microsoft.com/office/drawing/2014/main" id="{2651A1D4-67BD-09F0-81B7-FE3CCE1580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6644" y="4278992"/>
            <a:ext cx="2464627" cy="2464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53267BD-AD6C-9856-0926-F6DBE0682CAE}"/>
              </a:ext>
            </a:extLst>
          </p:cNvPr>
          <p:cNvCxnSpPr>
            <a:cxnSpLocks/>
          </p:cNvCxnSpPr>
          <p:nvPr/>
        </p:nvCxnSpPr>
        <p:spPr>
          <a:xfrm flipH="1">
            <a:off x="2313793" y="4525795"/>
            <a:ext cx="384574" cy="52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0CA0DF5-1370-DDB1-DA7D-DB554120E408}"/>
              </a:ext>
            </a:extLst>
          </p:cNvPr>
          <p:cNvCxnSpPr>
            <a:cxnSpLocks/>
          </p:cNvCxnSpPr>
          <p:nvPr/>
        </p:nvCxnSpPr>
        <p:spPr>
          <a:xfrm>
            <a:off x="6119189" y="4555608"/>
            <a:ext cx="4544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50F0956-1F71-63FD-4BD6-6FDF7F4AEA6D}"/>
              </a:ext>
            </a:extLst>
          </p:cNvPr>
          <p:cNvCxnSpPr>
            <a:cxnSpLocks/>
            <a:stCxn id="17" idx="0"/>
          </p:cNvCxnSpPr>
          <p:nvPr/>
        </p:nvCxnSpPr>
        <p:spPr>
          <a:xfrm flipH="1" flipV="1">
            <a:off x="1919482" y="3596144"/>
            <a:ext cx="1" cy="2866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727BB92-069B-9096-A2F8-31F9B256252A}"/>
              </a:ext>
            </a:extLst>
          </p:cNvPr>
          <p:cNvCxnSpPr>
            <a:cxnSpLocks/>
          </p:cNvCxnSpPr>
          <p:nvPr/>
        </p:nvCxnSpPr>
        <p:spPr>
          <a:xfrm flipH="1" flipV="1">
            <a:off x="6899542" y="3602569"/>
            <a:ext cx="1" cy="2866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15046-7F93-0A4F-181C-1A6FDE47C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F472CEB0-3850-06A1-B3A0-34DD53C6D3E2}"/>
              </a:ext>
            </a:extLst>
          </p:cNvPr>
          <p:cNvSpPr/>
          <p:nvPr/>
        </p:nvSpPr>
        <p:spPr>
          <a:xfrm>
            <a:off x="2012982" y="1563864"/>
            <a:ext cx="2840164" cy="23457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8" name="Picture 14" descr="Arduino Uno R3 Png Png Download Arduino Uno Png Transparent Png Images">
            <a:extLst>
              <a:ext uri="{FF2B5EF4-FFF2-40B4-BE49-F238E27FC236}">
                <a16:creationId xmlns:a16="http://schemas.microsoft.com/office/drawing/2014/main" id="{9B66BEA7-3DBD-0EE1-BF86-7C9DED41DB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5859" y="1270270"/>
            <a:ext cx="3092558" cy="327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6" name="Rectangle 1065">
            <a:extLst>
              <a:ext uri="{FF2B5EF4-FFF2-40B4-BE49-F238E27FC236}">
                <a16:creationId xmlns:a16="http://schemas.microsoft.com/office/drawing/2014/main" id="{1284D1D8-D3AA-9790-F67D-43E5173CF6D3}"/>
              </a:ext>
            </a:extLst>
          </p:cNvPr>
          <p:cNvSpPr/>
          <p:nvPr/>
        </p:nvSpPr>
        <p:spPr>
          <a:xfrm>
            <a:off x="5594242" y="173413"/>
            <a:ext cx="3092558" cy="14084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4CD365E9-4159-FE0A-50D2-25C5294A77D8}"/>
              </a:ext>
            </a:extLst>
          </p:cNvPr>
          <p:cNvSpPr/>
          <p:nvPr/>
        </p:nvSpPr>
        <p:spPr>
          <a:xfrm>
            <a:off x="4853146" y="4409495"/>
            <a:ext cx="4091194" cy="22750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4" name="Rectangle 1023">
            <a:extLst>
              <a:ext uri="{FF2B5EF4-FFF2-40B4-BE49-F238E27FC236}">
                <a16:creationId xmlns:a16="http://schemas.microsoft.com/office/drawing/2014/main" id="{10B0C5AC-7AA7-5615-C893-D11F23D4C66D}"/>
              </a:ext>
            </a:extLst>
          </p:cNvPr>
          <p:cNvSpPr/>
          <p:nvPr/>
        </p:nvSpPr>
        <p:spPr>
          <a:xfrm>
            <a:off x="2221388" y="4313032"/>
            <a:ext cx="1388756" cy="19577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2208DAA-7E6A-C0A3-B37F-D59E60DC04E3}"/>
              </a:ext>
            </a:extLst>
          </p:cNvPr>
          <p:cNvSpPr/>
          <p:nvPr/>
        </p:nvSpPr>
        <p:spPr>
          <a:xfrm>
            <a:off x="5044380" y="1877568"/>
            <a:ext cx="3758243" cy="2405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1A647B-3E9E-7518-B1AE-AEACD7615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02" y="15836"/>
            <a:ext cx="4469078" cy="1058057"/>
          </a:xfrm>
        </p:spPr>
        <p:txBody>
          <a:bodyPr>
            <a:normAutofit fontScale="90000"/>
          </a:bodyPr>
          <a:lstStyle/>
          <a:p>
            <a:r>
              <a:rPr lang="en-US"/>
              <a:t>Plate 4 Functional Block Diagram (FBD)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8F21B9-64B7-E628-EAE0-3948352D9B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/>
              <a:pPr/>
              <a:t>10</a:t>
            </a:fld>
            <a:endParaRPr lang="en-US"/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E0D49A47-0D90-F8B8-6BF4-D5CCA546E437}"/>
              </a:ext>
            </a:extLst>
          </p:cNvPr>
          <p:cNvSpPr txBox="1"/>
          <p:nvPr/>
        </p:nvSpPr>
        <p:spPr>
          <a:xfrm>
            <a:off x="2332710" y="5624493"/>
            <a:ext cx="11171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MPU 6050</a:t>
            </a:r>
          </a:p>
        </p:txBody>
      </p:sp>
      <p:sp>
        <p:nvSpPr>
          <p:cNvPr id="1027" name="TextBox 1026">
            <a:extLst>
              <a:ext uri="{FF2B5EF4-FFF2-40B4-BE49-F238E27FC236}">
                <a16:creationId xmlns:a16="http://schemas.microsoft.com/office/drawing/2014/main" id="{11ADCF82-81AB-B61B-9FD7-1FB0473CD554}"/>
              </a:ext>
            </a:extLst>
          </p:cNvPr>
          <p:cNvSpPr txBox="1"/>
          <p:nvPr/>
        </p:nvSpPr>
        <p:spPr>
          <a:xfrm>
            <a:off x="2103876" y="1685380"/>
            <a:ext cx="1846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Arduino Uno</a:t>
            </a:r>
          </a:p>
        </p:txBody>
      </p:sp>
      <p:cxnSp>
        <p:nvCxnSpPr>
          <p:cNvPr id="1031" name="Connector: Elbow 1030">
            <a:extLst>
              <a:ext uri="{FF2B5EF4-FFF2-40B4-BE49-F238E27FC236}">
                <a16:creationId xmlns:a16="http://schemas.microsoft.com/office/drawing/2014/main" id="{1F82A5EA-723E-F7CC-2E1B-538A91CDAA2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481887" y="3749851"/>
            <a:ext cx="1707776" cy="762435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D1615B24-A6CA-3FF8-03BD-28B27537C315}"/>
              </a:ext>
            </a:extLst>
          </p:cNvPr>
          <p:cNvSpPr/>
          <p:nvPr/>
        </p:nvSpPr>
        <p:spPr>
          <a:xfrm>
            <a:off x="47402" y="3830676"/>
            <a:ext cx="2080369" cy="28539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604E6520-E04A-D355-E6AD-CB3549F110FD}"/>
              </a:ext>
            </a:extLst>
          </p:cNvPr>
          <p:cNvSpPr/>
          <p:nvPr/>
        </p:nvSpPr>
        <p:spPr>
          <a:xfrm>
            <a:off x="34390" y="1167067"/>
            <a:ext cx="1859297" cy="25420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Key</a:t>
            </a:r>
          </a:p>
          <a:p>
            <a:pPr algn="ctr"/>
            <a:r>
              <a:rPr lang="en-US">
                <a:solidFill>
                  <a:schemeClr val="tx1"/>
                </a:solidFill>
              </a:rPr>
              <a:t>Blue – Data Red – Power</a:t>
            </a:r>
          </a:p>
          <a:p>
            <a:pPr algn="ctr"/>
            <a:r>
              <a:rPr lang="en-US">
                <a:solidFill>
                  <a:schemeClr val="tx1"/>
                </a:solidFill>
              </a:rPr>
              <a:t>Black – GND</a:t>
            </a:r>
          </a:p>
          <a:p>
            <a:pPr algn="ctr"/>
            <a:r>
              <a:rPr lang="en-US">
                <a:solidFill>
                  <a:schemeClr val="tx1"/>
                </a:solidFill>
              </a:rPr>
              <a:t>Yellow –I2C</a:t>
            </a:r>
          </a:p>
          <a:p>
            <a:pPr algn="ctr"/>
            <a:r>
              <a:rPr lang="en-US">
                <a:solidFill>
                  <a:schemeClr val="tx1"/>
                </a:solidFill>
              </a:rPr>
              <a:t>Purple – Activation Signal</a:t>
            </a:r>
          </a:p>
        </p:txBody>
      </p:sp>
      <p:pic>
        <p:nvPicPr>
          <p:cNvPr id="6" name="Picture 4" descr="Lesson 32 MPU6050 Gyro Acceleration Sensor — SunFounder SunFounder ...">
            <a:extLst>
              <a:ext uri="{FF2B5EF4-FFF2-40B4-BE49-F238E27FC236}">
                <a16:creationId xmlns:a16="http://schemas.microsoft.com/office/drawing/2014/main" id="{8B7A4920-425F-751F-EAF6-56E94B3236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9387" y="4711787"/>
            <a:ext cx="1008032" cy="1046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E28CFEB7-A564-7FC5-BDAC-042229F357C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517482" y="3793833"/>
            <a:ext cx="1623705" cy="526958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0C0A2AF0-949D-3B28-83E7-9172B92A5A33}"/>
              </a:ext>
            </a:extLst>
          </p:cNvPr>
          <p:cNvCxnSpPr>
            <a:cxnSpLocks/>
          </p:cNvCxnSpPr>
          <p:nvPr/>
        </p:nvCxnSpPr>
        <p:spPr>
          <a:xfrm rot="16200000" flipV="1">
            <a:off x="1695930" y="3420381"/>
            <a:ext cx="2252320" cy="889641"/>
          </a:xfrm>
          <a:prstGeom prst="bentConnector3">
            <a:avLst>
              <a:gd name="adj1" fmla="val 44259"/>
            </a:avLst>
          </a:prstGeom>
          <a:ln w="19050" cap="flat" cmpd="sng" algn="ctr">
            <a:solidFill>
              <a:srgbClr val="FF0000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80BCED6F-F162-791C-F6A6-77D698BC4E30}"/>
              </a:ext>
            </a:extLst>
          </p:cNvPr>
          <p:cNvCxnSpPr>
            <a:cxnSpLocks/>
          </p:cNvCxnSpPr>
          <p:nvPr/>
        </p:nvCxnSpPr>
        <p:spPr>
          <a:xfrm rot="10800000">
            <a:off x="2281942" y="4178649"/>
            <a:ext cx="883619" cy="619752"/>
          </a:xfrm>
          <a:prstGeom prst="bentConnector3">
            <a:avLst>
              <a:gd name="adj1" fmla="val -174"/>
            </a:avLst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45" name="TextBox 1044">
            <a:extLst>
              <a:ext uri="{FF2B5EF4-FFF2-40B4-BE49-F238E27FC236}">
                <a16:creationId xmlns:a16="http://schemas.microsoft.com/office/drawing/2014/main" id="{42C2F544-AD64-24A3-FB00-9D6BAD2DFABF}"/>
              </a:ext>
            </a:extLst>
          </p:cNvPr>
          <p:cNvSpPr txBox="1"/>
          <p:nvPr/>
        </p:nvSpPr>
        <p:spPr>
          <a:xfrm>
            <a:off x="6922612" y="4426697"/>
            <a:ext cx="2043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12v Power supply</a:t>
            </a:r>
          </a:p>
        </p:txBody>
      </p:sp>
      <p:sp>
        <p:nvSpPr>
          <p:cNvPr id="3" name="AutoShape 2" descr="Image result for 9v to 5v dual usb">
            <a:extLst>
              <a:ext uri="{FF2B5EF4-FFF2-40B4-BE49-F238E27FC236}">
                <a16:creationId xmlns:a16="http://schemas.microsoft.com/office/drawing/2014/main" id="{2BFAE3E2-42FC-C8AD-2CAC-D00502A93E6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8" name="Picture 4" descr="Dual USB Output 9V/12V/24V to 5V 3A DC-DC Car Charging Voltage-Stabili ...">
            <a:extLst>
              <a:ext uri="{FF2B5EF4-FFF2-40B4-BE49-F238E27FC236}">
                <a16:creationId xmlns:a16="http://schemas.microsoft.com/office/drawing/2014/main" id="{F34B0C1C-DAD0-16B2-E427-94AE266B56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6552" y="1982352"/>
            <a:ext cx="1816060" cy="1816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6" descr="Mean Well GST90A12-P1M (80W 12V)">
            <a:extLst>
              <a:ext uri="{FF2B5EF4-FFF2-40B4-BE49-F238E27FC236}">
                <a16:creationId xmlns:a16="http://schemas.microsoft.com/office/drawing/2014/main" id="{1B721E4D-FAD9-51A9-76B1-9BAB9AED5A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88A1DBA9-58C5-D246-9B67-ADE0F002C1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" name="Picture 12" descr="SMPS 12V 5A: DYNAMIXEL power supply, 12 VDC, 5 A. at reichelt elektronik">
            <a:extLst>
              <a:ext uri="{FF2B5EF4-FFF2-40B4-BE49-F238E27FC236}">
                <a16:creationId xmlns:a16="http://schemas.microsoft.com/office/drawing/2014/main" id="{2B643032-1734-8D5B-8BE0-5C13C01751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5628" y="4772075"/>
            <a:ext cx="3261172" cy="1623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6" descr="ACT 17HS5425L2X2: Hybrid stepper motor NEMA 17, 1.8 °, 2.5 A, 3.1 V at ...">
            <a:extLst>
              <a:ext uri="{FF2B5EF4-FFF2-40B4-BE49-F238E27FC236}">
                <a16:creationId xmlns:a16="http://schemas.microsoft.com/office/drawing/2014/main" id="{E902E914-DE0B-94D7-529A-286B8C6E0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827" y="3801129"/>
            <a:ext cx="1054154" cy="1098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12V DC Motor Controller | Electronics projects for beginners ...">
            <a:extLst>
              <a:ext uri="{FF2B5EF4-FFF2-40B4-BE49-F238E27FC236}">
                <a16:creationId xmlns:a16="http://schemas.microsoft.com/office/drawing/2014/main" id="{0E747B37-E6E1-9B76-FC14-546EF9852F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3847" y="1952014"/>
            <a:ext cx="1572954" cy="2197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Nema 17 stepper motor driver | ICAN">
            <a:extLst>
              <a:ext uri="{FF2B5EF4-FFF2-40B4-BE49-F238E27FC236}">
                <a16:creationId xmlns:a16="http://schemas.microsoft.com/office/drawing/2014/main" id="{A7C0A1A2-261E-A980-54E3-510AEFD559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101" y="4772075"/>
            <a:ext cx="1990725" cy="199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>
            <a:extLst>
              <a:ext uri="{FF2B5EF4-FFF2-40B4-BE49-F238E27FC236}">
                <a16:creationId xmlns:a16="http://schemas.microsoft.com/office/drawing/2014/main" id="{FF2E004E-4031-4386-FF61-5086DD22E0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2154" b="90000" l="10000" r="90000">
                        <a14:foregroundMark x1="57000" y1="21308" x2="57000" y2="3077"/>
                        <a14:foregroundMark x1="58077" y1="78462" x2="58615" y2="74308"/>
                        <a14:foregroundMark x1="47462" y1="59846" x2="70846" y2="59846"/>
                        <a14:foregroundMark x1="57308" y1="14615" x2="58385" y2="215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6082724" y="-98965"/>
            <a:ext cx="2345715" cy="2345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75DCA38C-7329-98D3-B70B-37FDA2D3ACF8}"/>
              </a:ext>
            </a:extLst>
          </p:cNvPr>
          <p:cNvCxnSpPr>
            <a:cxnSpLocks/>
          </p:cNvCxnSpPr>
          <p:nvPr/>
        </p:nvCxnSpPr>
        <p:spPr>
          <a:xfrm rot="16200000" flipV="1">
            <a:off x="4881030" y="4110339"/>
            <a:ext cx="2252320" cy="889641"/>
          </a:xfrm>
          <a:prstGeom prst="bentConnector3">
            <a:avLst>
              <a:gd name="adj1" fmla="val 44259"/>
            </a:avLst>
          </a:prstGeom>
          <a:ln w="19050" cap="flat" cmpd="sng" algn="ctr">
            <a:solidFill>
              <a:srgbClr val="FF0000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DDD1A73F-9DDD-B6E1-40F7-280714B06AAD}"/>
              </a:ext>
            </a:extLst>
          </p:cNvPr>
          <p:cNvCxnSpPr>
            <a:cxnSpLocks/>
          </p:cNvCxnSpPr>
          <p:nvPr/>
        </p:nvCxnSpPr>
        <p:spPr>
          <a:xfrm rot="16200000" flipV="1">
            <a:off x="5014054" y="4084526"/>
            <a:ext cx="2194675" cy="883621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507E53B1-1E4B-D643-094A-748E9B7ED7B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464183" y="3546838"/>
            <a:ext cx="1030704" cy="852671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5C88E0F6-570D-AEC4-4AAE-4BE291615D6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724954" y="4191640"/>
            <a:ext cx="2223379" cy="755983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rgbClr val="FF0000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88284DCE-4C30-27E0-09E2-4B1F0BF177D1}"/>
              </a:ext>
            </a:extLst>
          </p:cNvPr>
          <p:cNvCxnSpPr>
            <a:cxnSpLocks/>
          </p:cNvCxnSpPr>
          <p:nvPr/>
        </p:nvCxnSpPr>
        <p:spPr>
          <a:xfrm rot="16200000" flipV="1">
            <a:off x="6951314" y="1524918"/>
            <a:ext cx="2280148" cy="434842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rgbClr val="FF0000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E13CE5B9-54D4-535B-D3E2-B97DF53F7597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66519" y="1808259"/>
            <a:ext cx="1857402" cy="681766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637C5250-9640-569F-8DC3-68F5CEACDFB7}"/>
              </a:ext>
            </a:extLst>
          </p:cNvPr>
          <p:cNvCxnSpPr>
            <a:cxnSpLocks/>
          </p:cNvCxnSpPr>
          <p:nvPr/>
        </p:nvCxnSpPr>
        <p:spPr>
          <a:xfrm rot="10800000" flipV="1">
            <a:off x="1795622" y="5833718"/>
            <a:ext cx="4223162" cy="437105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rgbClr val="FF0000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940DD03C-3F76-C625-0C4A-920C94F07A7E}"/>
              </a:ext>
            </a:extLst>
          </p:cNvPr>
          <p:cNvCxnSpPr>
            <a:cxnSpLocks/>
          </p:cNvCxnSpPr>
          <p:nvPr/>
        </p:nvCxnSpPr>
        <p:spPr>
          <a:xfrm rot="10800000" flipV="1">
            <a:off x="1769751" y="5737935"/>
            <a:ext cx="4277320" cy="409033"/>
          </a:xfrm>
          <a:prstGeom prst="bentConnector3">
            <a:avLst>
              <a:gd name="adj1" fmla="val 53420"/>
            </a:avLst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8" name="Elbow Connector 57">
            <a:extLst>
              <a:ext uri="{FF2B5EF4-FFF2-40B4-BE49-F238E27FC236}">
                <a16:creationId xmlns:a16="http://schemas.microsoft.com/office/drawing/2014/main" id="{82D6F2E1-0684-2E77-0DC6-7A9E507EB937}"/>
              </a:ext>
            </a:extLst>
          </p:cNvPr>
          <p:cNvCxnSpPr>
            <a:stCxn id="1028" idx="0"/>
          </p:cNvCxnSpPr>
          <p:nvPr/>
        </p:nvCxnSpPr>
        <p:spPr>
          <a:xfrm rot="16200000" flipH="1" flipV="1">
            <a:off x="4182871" y="1749689"/>
            <a:ext cx="1599048" cy="2064374"/>
          </a:xfrm>
          <a:prstGeom prst="bentConnector4">
            <a:avLst>
              <a:gd name="adj1" fmla="val -14296"/>
              <a:gd name="adj2" fmla="val 71993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0" name="Elbow Connector 59">
            <a:extLst>
              <a:ext uri="{FF2B5EF4-FFF2-40B4-BE49-F238E27FC236}">
                <a16:creationId xmlns:a16="http://schemas.microsoft.com/office/drawing/2014/main" id="{392CE818-5089-AFAE-2D80-CBE1F50A0E6B}"/>
              </a:ext>
            </a:extLst>
          </p:cNvPr>
          <p:cNvCxnSpPr>
            <a:cxnSpLocks/>
          </p:cNvCxnSpPr>
          <p:nvPr/>
        </p:nvCxnSpPr>
        <p:spPr>
          <a:xfrm rot="10800000" flipV="1">
            <a:off x="1756484" y="3097952"/>
            <a:ext cx="536962" cy="111689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66537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17908" y="741391"/>
            <a:ext cx="3368866" cy="1616203"/>
          </a:xfrm>
        </p:spPr>
        <p:txBody>
          <a:bodyPr anchor="b">
            <a:normAutofit/>
          </a:bodyPr>
          <a:lstStyle/>
          <a:p>
            <a:r>
              <a:rPr lang="en-US" sz="2800"/>
              <a:t>Experimental Setup &amp; Validation</a:t>
            </a:r>
          </a:p>
        </p:txBody>
      </p:sp>
      <p:pic>
        <p:nvPicPr>
          <p:cNvPr id="5" name="Picture 4" descr="A digital balance scale using circles">
            <a:extLst>
              <a:ext uri="{FF2B5EF4-FFF2-40B4-BE49-F238E27FC236}">
                <a16:creationId xmlns:a16="http://schemas.microsoft.com/office/drawing/2014/main" id="{8C80137D-7B47-60FC-5B1E-A507BB3CE0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142" r="28525" b="1"/>
          <a:stretch/>
        </p:blipFill>
        <p:spPr>
          <a:xfrm>
            <a:off x="20" y="10"/>
            <a:ext cx="4571980" cy="685799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5EFBDE31-BB3E-6CFC-23CD-B5976DA38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2521" cy="6858000"/>
            <a:chOff x="12068638" y="0"/>
            <a:chExt cx="123362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80A60EC-72BB-121F-556A-E2837FD99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91A2FAE-D41C-FF5D-B0A0-7808248ED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4139706"/>
              <a:ext cx="123362" cy="2718294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7908" y="2533476"/>
            <a:ext cx="3368865" cy="344783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700"/>
              <a:t>Validation Method:</a:t>
            </a:r>
          </a:p>
          <a:p>
            <a:r>
              <a:rPr lang="en-US" sz="1700"/>
              <a:t>Static balance tests</a:t>
            </a:r>
          </a:p>
          <a:p>
            <a:r>
              <a:rPr lang="en-US" sz="1700"/>
              <a:t>Dynamic perturbation tests (rider weight shifts, pushes)</a:t>
            </a:r>
          </a:p>
          <a:p>
            <a:r>
              <a:rPr lang="en-US" sz="1700"/>
              <a:t>Performance metrics: roll angle, gimbal deflection, correction speed</a:t>
            </a:r>
          </a:p>
          <a:p>
            <a:endParaRPr lang="en-US" sz="1700"/>
          </a:p>
          <a:p>
            <a:pPr marL="0" indent="0">
              <a:buNone/>
            </a:pPr>
            <a:r>
              <a:rPr lang="en-US" sz="1700"/>
              <a:t>Success Criteria:</a:t>
            </a:r>
          </a:p>
          <a:p>
            <a:r>
              <a:rPr lang="en-US" sz="1700"/>
              <a:t>Stable within ±5° roll during static and dynamic trials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anchor="b">
            <a:normAutofit/>
          </a:bodyPr>
          <a:lstStyle/>
          <a:p>
            <a:r>
              <a:rPr lang="en-US" sz="3300"/>
              <a:t>Experimental Data</a:t>
            </a:r>
          </a:p>
        </p:txBody>
      </p:sp>
      <p:sp>
        <p:nvSpPr>
          <p:cNvPr id="30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onnsiteX0" fmla="*/ 0 w 2441321"/>
              <a:gd name="connsiteY0" fmla="*/ 0 h 18288"/>
              <a:gd name="connsiteX1" fmla="*/ 585917 w 2441321"/>
              <a:gd name="connsiteY1" fmla="*/ 0 h 18288"/>
              <a:gd name="connsiteX2" fmla="*/ 1196247 w 2441321"/>
              <a:gd name="connsiteY2" fmla="*/ 0 h 18288"/>
              <a:gd name="connsiteX3" fmla="*/ 1806578 w 2441321"/>
              <a:gd name="connsiteY3" fmla="*/ 0 h 18288"/>
              <a:gd name="connsiteX4" fmla="*/ 2441321 w 2441321"/>
              <a:gd name="connsiteY4" fmla="*/ 0 h 18288"/>
              <a:gd name="connsiteX5" fmla="*/ 2441321 w 2441321"/>
              <a:gd name="connsiteY5" fmla="*/ 18288 h 18288"/>
              <a:gd name="connsiteX6" fmla="*/ 1830991 w 2441321"/>
              <a:gd name="connsiteY6" fmla="*/ 18288 h 18288"/>
              <a:gd name="connsiteX7" fmla="*/ 1269487 w 2441321"/>
              <a:gd name="connsiteY7" fmla="*/ 18288 h 18288"/>
              <a:gd name="connsiteX8" fmla="*/ 707983 w 2441321"/>
              <a:gd name="connsiteY8" fmla="*/ 18288 h 18288"/>
              <a:gd name="connsiteX9" fmla="*/ 0 w 2441321"/>
              <a:gd name="connsiteY9" fmla="*/ 18288 h 18288"/>
              <a:gd name="connsiteX10" fmla="*/ 0 w 2441321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202" y="2807208"/>
            <a:ext cx="2571750" cy="341071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900" dirty="0"/>
              <a:t>This is the Arduino terminal output showing the tilt and action that is being taken to correct the tilt using the stepper motor angle shown as “Steps”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40E488-0D81-0B69-4EA0-C75570E68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722" y="1803415"/>
            <a:ext cx="5177790" cy="32511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1751A6-174E-51A0-9F53-2CB298669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296FF386-0800-0471-2180-5D7DE30E3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F547AD-8FF7-D884-C358-74AB7CD1A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anchor="b">
            <a:normAutofit/>
          </a:bodyPr>
          <a:lstStyle/>
          <a:p>
            <a:r>
              <a:rPr lang="en-US" sz="3300"/>
              <a:t>Experimental Data</a:t>
            </a:r>
          </a:p>
        </p:txBody>
      </p:sp>
      <p:sp>
        <p:nvSpPr>
          <p:cNvPr id="30" name="sketch line">
            <a:extLst>
              <a:ext uri="{FF2B5EF4-FFF2-40B4-BE49-F238E27FC236}">
                <a16:creationId xmlns:a16="http://schemas.microsoft.com/office/drawing/2014/main" id="{6015BCE3-9CB1-8CD5-922D-5CD1D4FB9D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onnsiteX0" fmla="*/ 0 w 2441321"/>
              <a:gd name="connsiteY0" fmla="*/ 0 h 18288"/>
              <a:gd name="connsiteX1" fmla="*/ 585917 w 2441321"/>
              <a:gd name="connsiteY1" fmla="*/ 0 h 18288"/>
              <a:gd name="connsiteX2" fmla="*/ 1196247 w 2441321"/>
              <a:gd name="connsiteY2" fmla="*/ 0 h 18288"/>
              <a:gd name="connsiteX3" fmla="*/ 1806578 w 2441321"/>
              <a:gd name="connsiteY3" fmla="*/ 0 h 18288"/>
              <a:gd name="connsiteX4" fmla="*/ 2441321 w 2441321"/>
              <a:gd name="connsiteY4" fmla="*/ 0 h 18288"/>
              <a:gd name="connsiteX5" fmla="*/ 2441321 w 2441321"/>
              <a:gd name="connsiteY5" fmla="*/ 18288 h 18288"/>
              <a:gd name="connsiteX6" fmla="*/ 1830991 w 2441321"/>
              <a:gd name="connsiteY6" fmla="*/ 18288 h 18288"/>
              <a:gd name="connsiteX7" fmla="*/ 1269487 w 2441321"/>
              <a:gd name="connsiteY7" fmla="*/ 18288 h 18288"/>
              <a:gd name="connsiteX8" fmla="*/ 707983 w 2441321"/>
              <a:gd name="connsiteY8" fmla="*/ 18288 h 18288"/>
              <a:gd name="connsiteX9" fmla="*/ 0 w 2441321"/>
              <a:gd name="connsiteY9" fmla="*/ 18288 h 18288"/>
              <a:gd name="connsiteX10" fmla="*/ 0 w 2441321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9D617B-9838-502F-C11B-DA491C427451}"/>
              </a:ext>
            </a:extLst>
          </p:cNvPr>
          <p:cNvSpPr txBox="1"/>
          <p:nvPr/>
        </p:nvSpPr>
        <p:spPr>
          <a:xfrm>
            <a:off x="271026" y="2924528"/>
            <a:ext cx="28641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Acquisition used is a CSV showing tilt of board and corresponding angle resulting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5717FE2-EB79-54F4-7814-D64F02A728B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85087730"/>
              </p:ext>
            </p:extLst>
          </p:nvPr>
        </p:nvGraphicFramePr>
        <p:xfrm>
          <a:off x="3773405" y="0"/>
          <a:ext cx="5012897" cy="29245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88E13D12-1557-9B63-DE5B-D172F347970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72664623"/>
              </p:ext>
            </p:extLst>
          </p:nvPr>
        </p:nvGraphicFramePr>
        <p:xfrm>
          <a:off x="3814608" y="3292240"/>
          <a:ext cx="4572000" cy="32090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9090E31-22C2-AC83-6F37-2E2F5D02E8A6}"/>
              </a:ext>
            </a:extLst>
          </p:cNvPr>
          <p:cNvSpPr txBox="1"/>
          <p:nvPr/>
        </p:nvSpPr>
        <p:spPr>
          <a:xfrm>
            <a:off x="7601953" y="3540399"/>
            <a:ext cx="16927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^ Threshold for    __stepper __movement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A0539CD-BA71-D467-EEA4-AD23E51EE9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6400468"/>
              </p:ext>
            </p:extLst>
          </p:nvPr>
        </p:nvGraphicFramePr>
        <p:xfrm>
          <a:off x="3168619" y="0"/>
          <a:ext cx="565464" cy="69471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2732">
                  <a:extLst>
                    <a:ext uri="{9D8B030D-6E8A-4147-A177-3AD203B41FA5}">
                      <a16:colId xmlns:a16="http://schemas.microsoft.com/office/drawing/2014/main" val="4249729836"/>
                    </a:ext>
                  </a:extLst>
                </a:gridCol>
                <a:gridCol w="282732">
                  <a:extLst>
                    <a:ext uri="{9D8B030D-6E8A-4147-A177-3AD203B41FA5}">
                      <a16:colId xmlns:a16="http://schemas.microsoft.com/office/drawing/2014/main" val="1500457635"/>
                    </a:ext>
                  </a:extLst>
                </a:gridCol>
              </a:tblGrid>
              <a:tr h="107406">
                <a:tc>
                  <a:txBody>
                    <a:bodyPr/>
                    <a:lstStyle/>
                    <a:p>
                      <a:pPr algn="r" fontAlgn="ctr"/>
                      <a:r>
                        <a:rPr lang="en-US" sz="700" u="none" strike="noStrike">
                          <a:effectLst/>
                        </a:rPr>
                        <a:t>2.37</a:t>
                      </a:r>
                      <a:endParaRPr lang="en-US" sz="700" b="0" i="0" u="none" strike="noStrike">
                        <a:solidFill>
                          <a:srgbClr val="DAE3E3"/>
                        </a:solidFill>
                        <a:effectLst/>
                        <a:latin typeface="Arial Unicode MS"/>
                      </a:endParaRPr>
                    </a:p>
                  </a:txBody>
                  <a:tcPr marL="3592" marR="3592" marT="359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>
                          <a:effectLst/>
                        </a:rPr>
                        <a:t>45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92" marR="3592" marT="3592" marB="0" anchor="b"/>
                </a:tc>
                <a:extLst>
                  <a:ext uri="{0D108BD9-81ED-4DB2-BD59-A6C34878D82A}">
                    <a16:rowId xmlns:a16="http://schemas.microsoft.com/office/drawing/2014/main" val="1916990532"/>
                  </a:ext>
                </a:extLst>
              </a:tr>
              <a:tr h="1074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2.32</a:t>
                      </a:r>
                      <a:endParaRPr lang="en-US" sz="700" b="0" i="0" u="none" strike="noStrike">
                        <a:solidFill>
                          <a:srgbClr val="DAE3E3"/>
                        </a:solidFill>
                        <a:effectLst/>
                        <a:latin typeface="Arial Unicode MS"/>
                      </a:endParaRPr>
                    </a:p>
                  </a:txBody>
                  <a:tcPr marL="3592" marR="3592" marT="359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>
                          <a:effectLst/>
                        </a:rPr>
                        <a:t>45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92" marR="3592" marT="3592" marB="0" anchor="b"/>
                </a:tc>
                <a:extLst>
                  <a:ext uri="{0D108BD9-81ED-4DB2-BD59-A6C34878D82A}">
                    <a16:rowId xmlns:a16="http://schemas.microsoft.com/office/drawing/2014/main" val="2731282173"/>
                  </a:ext>
                </a:extLst>
              </a:tr>
              <a:tr h="1074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2.27</a:t>
                      </a:r>
                      <a:endParaRPr lang="en-US" sz="700" b="0" i="0" u="none" strike="noStrike">
                        <a:solidFill>
                          <a:srgbClr val="DAE3E3"/>
                        </a:solidFill>
                        <a:effectLst/>
                        <a:latin typeface="Arial Unicode MS"/>
                      </a:endParaRPr>
                    </a:p>
                  </a:txBody>
                  <a:tcPr marL="3592" marR="3592" marT="359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>
                          <a:effectLst/>
                        </a:rPr>
                        <a:t>45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92" marR="3592" marT="3592" marB="0" anchor="b"/>
                </a:tc>
                <a:extLst>
                  <a:ext uri="{0D108BD9-81ED-4DB2-BD59-A6C34878D82A}">
                    <a16:rowId xmlns:a16="http://schemas.microsoft.com/office/drawing/2014/main" val="405646227"/>
                  </a:ext>
                </a:extLst>
              </a:tr>
              <a:tr h="1074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2.23</a:t>
                      </a:r>
                      <a:endParaRPr lang="en-US" sz="700" b="0" i="0" u="none" strike="noStrike">
                        <a:solidFill>
                          <a:srgbClr val="DAE3E3"/>
                        </a:solidFill>
                        <a:effectLst/>
                        <a:latin typeface="Arial Unicode MS"/>
                      </a:endParaRPr>
                    </a:p>
                  </a:txBody>
                  <a:tcPr marL="3592" marR="3592" marT="359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>
                          <a:effectLst/>
                        </a:rPr>
                        <a:t>45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92" marR="3592" marT="3592" marB="0" anchor="b"/>
                </a:tc>
                <a:extLst>
                  <a:ext uri="{0D108BD9-81ED-4DB2-BD59-A6C34878D82A}">
                    <a16:rowId xmlns:a16="http://schemas.microsoft.com/office/drawing/2014/main" val="1393115065"/>
                  </a:ext>
                </a:extLst>
              </a:tr>
              <a:tr h="1074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2.19</a:t>
                      </a:r>
                      <a:endParaRPr lang="en-US" sz="700" b="0" i="0" u="none" strike="noStrike">
                        <a:solidFill>
                          <a:srgbClr val="DAE3E3"/>
                        </a:solidFill>
                        <a:effectLst/>
                        <a:latin typeface="Arial Unicode MS"/>
                      </a:endParaRPr>
                    </a:p>
                  </a:txBody>
                  <a:tcPr marL="3592" marR="3592" marT="359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>
                          <a:effectLst/>
                        </a:rPr>
                        <a:t>45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92" marR="3592" marT="3592" marB="0" anchor="b"/>
                </a:tc>
                <a:extLst>
                  <a:ext uri="{0D108BD9-81ED-4DB2-BD59-A6C34878D82A}">
                    <a16:rowId xmlns:a16="http://schemas.microsoft.com/office/drawing/2014/main" val="1958113043"/>
                  </a:ext>
                </a:extLst>
              </a:tr>
              <a:tr h="1074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2.14</a:t>
                      </a:r>
                      <a:endParaRPr lang="en-US" sz="700" b="0" i="0" u="none" strike="noStrike">
                        <a:solidFill>
                          <a:srgbClr val="DAE3E3"/>
                        </a:solidFill>
                        <a:effectLst/>
                        <a:latin typeface="Arial Unicode MS"/>
                      </a:endParaRPr>
                    </a:p>
                  </a:txBody>
                  <a:tcPr marL="3592" marR="3592" marT="359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>
                          <a:effectLst/>
                        </a:rPr>
                        <a:t>45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92" marR="3592" marT="3592" marB="0" anchor="b"/>
                </a:tc>
                <a:extLst>
                  <a:ext uri="{0D108BD9-81ED-4DB2-BD59-A6C34878D82A}">
                    <a16:rowId xmlns:a16="http://schemas.microsoft.com/office/drawing/2014/main" val="1456773036"/>
                  </a:ext>
                </a:extLst>
              </a:tr>
              <a:tr h="1074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2.09</a:t>
                      </a:r>
                      <a:endParaRPr lang="en-US" sz="700" b="0" i="0" u="none" strike="noStrike">
                        <a:solidFill>
                          <a:srgbClr val="DAE3E3"/>
                        </a:solidFill>
                        <a:effectLst/>
                        <a:latin typeface="Arial Unicode MS"/>
                      </a:endParaRPr>
                    </a:p>
                  </a:txBody>
                  <a:tcPr marL="3592" marR="3592" marT="359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>
                          <a:effectLst/>
                        </a:rPr>
                        <a:t>45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92" marR="3592" marT="3592" marB="0" anchor="b"/>
                </a:tc>
                <a:extLst>
                  <a:ext uri="{0D108BD9-81ED-4DB2-BD59-A6C34878D82A}">
                    <a16:rowId xmlns:a16="http://schemas.microsoft.com/office/drawing/2014/main" val="1060844501"/>
                  </a:ext>
                </a:extLst>
              </a:tr>
              <a:tr h="1074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2.07</a:t>
                      </a:r>
                      <a:endParaRPr lang="en-US" sz="700" b="0" i="0" u="none" strike="noStrike">
                        <a:solidFill>
                          <a:srgbClr val="DAE3E3"/>
                        </a:solidFill>
                        <a:effectLst/>
                        <a:latin typeface="Arial Unicode MS"/>
                      </a:endParaRPr>
                    </a:p>
                  </a:txBody>
                  <a:tcPr marL="3592" marR="3592" marT="359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>
                          <a:effectLst/>
                        </a:rPr>
                        <a:t>45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92" marR="3592" marT="3592" marB="0" anchor="b"/>
                </a:tc>
                <a:extLst>
                  <a:ext uri="{0D108BD9-81ED-4DB2-BD59-A6C34878D82A}">
                    <a16:rowId xmlns:a16="http://schemas.microsoft.com/office/drawing/2014/main" val="3809544032"/>
                  </a:ext>
                </a:extLst>
              </a:tr>
              <a:tr h="1074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2.06</a:t>
                      </a:r>
                      <a:endParaRPr lang="en-US" sz="700" b="0" i="0" u="none" strike="noStrike">
                        <a:solidFill>
                          <a:srgbClr val="DAE3E3"/>
                        </a:solidFill>
                        <a:effectLst/>
                        <a:latin typeface="Arial Unicode MS"/>
                      </a:endParaRPr>
                    </a:p>
                  </a:txBody>
                  <a:tcPr marL="3592" marR="3592" marT="359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>
                          <a:effectLst/>
                        </a:rPr>
                        <a:t>45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92" marR="3592" marT="3592" marB="0" anchor="b"/>
                </a:tc>
                <a:extLst>
                  <a:ext uri="{0D108BD9-81ED-4DB2-BD59-A6C34878D82A}">
                    <a16:rowId xmlns:a16="http://schemas.microsoft.com/office/drawing/2014/main" val="1566021962"/>
                  </a:ext>
                </a:extLst>
              </a:tr>
              <a:tr h="1074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2.03</a:t>
                      </a:r>
                      <a:endParaRPr lang="en-US" sz="700" b="0" i="0" u="none" strike="noStrike">
                        <a:solidFill>
                          <a:srgbClr val="DAE3E3"/>
                        </a:solidFill>
                        <a:effectLst/>
                        <a:latin typeface="Arial Unicode MS"/>
                      </a:endParaRPr>
                    </a:p>
                  </a:txBody>
                  <a:tcPr marL="3592" marR="3592" marT="359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>
                          <a:effectLst/>
                        </a:rPr>
                        <a:t>45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92" marR="3592" marT="3592" marB="0" anchor="b"/>
                </a:tc>
                <a:extLst>
                  <a:ext uri="{0D108BD9-81ED-4DB2-BD59-A6C34878D82A}">
                    <a16:rowId xmlns:a16="http://schemas.microsoft.com/office/drawing/2014/main" val="164298267"/>
                  </a:ext>
                </a:extLst>
              </a:tr>
              <a:tr h="1074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1.98</a:t>
                      </a:r>
                      <a:endParaRPr lang="en-US" sz="700" b="0" i="0" u="none" strike="noStrike">
                        <a:solidFill>
                          <a:srgbClr val="DAE3E3"/>
                        </a:solidFill>
                        <a:effectLst/>
                        <a:latin typeface="Arial Unicode MS"/>
                      </a:endParaRPr>
                    </a:p>
                  </a:txBody>
                  <a:tcPr marL="3592" marR="3592" marT="359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>
                          <a:effectLst/>
                        </a:rPr>
                        <a:t>45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92" marR="3592" marT="3592" marB="0" anchor="b"/>
                </a:tc>
                <a:extLst>
                  <a:ext uri="{0D108BD9-81ED-4DB2-BD59-A6C34878D82A}">
                    <a16:rowId xmlns:a16="http://schemas.microsoft.com/office/drawing/2014/main" val="1455755244"/>
                  </a:ext>
                </a:extLst>
              </a:tr>
              <a:tr h="1074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1.97</a:t>
                      </a:r>
                      <a:endParaRPr lang="en-US" sz="700" b="0" i="0" u="none" strike="noStrike">
                        <a:solidFill>
                          <a:srgbClr val="DAE3E3"/>
                        </a:solidFill>
                        <a:effectLst/>
                        <a:latin typeface="Arial Unicode MS"/>
                      </a:endParaRPr>
                    </a:p>
                  </a:txBody>
                  <a:tcPr marL="3592" marR="3592" marT="359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>
                          <a:effectLst/>
                        </a:rPr>
                        <a:t>44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92" marR="3592" marT="3592" marB="0" anchor="b"/>
                </a:tc>
                <a:extLst>
                  <a:ext uri="{0D108BD9-81ED-4DB2-BD59-A6C34878D82A}">
                    <a16:rowId xmlns:a16="http://schemas.microsoft.com/office/drawing/2014/main" val="2136847067"/>
                  </a:ext>
                </a:extLst>
              </a:tr>
              <a:tr h="1074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1.93</a:t>
                      </a:r>
                      <a:endParaRPr lang="en-US" sz="700" b="0" i="0" u="none" strike="noStrike">
                        <a:solidFill>
                          <a:srgbClr val="DAE3E3"/>
                        </a:solidFill>
                        <a:effectLst/>
                        <a:latin typeface="Arial Unicode MS"/>
                      </a:endParaRPr>
                    </a:p>
                  </a:txBody>
                  <a:tcPr marL="3592" marR="3592" marT="359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>
                          <a:effectLst/>
                        </a:rPr>
                        <a:t>43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92" marR="3592" marT="3592" marB="0" anchor="b"/>
                </a:tc>
                <a:extLst>
                  <a:ext uri="{0D108BD9-81ED-4DB2-BD59-A6C34878D82A}">
                    <a16:rowId xmlns:a16="http://schemas.microsoft.com/office/drawing/2014/main" val="1234460537"/>
                  </a:ext>
                </a:extLst>
              </a:tr>
              <a:tr h="1074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1.9</a:t>
                      </a:r>
                      <a:endParaRPr lang="en-US" sz="700" b="0" i="0" u="none" strike="noStrike">
                        <a:solidFill>
                          <a:srgbClr val="DAE3E3"/>
                        </a:solidFill>
                        <a:effectLst/>
                        <a:latin typeface="Arial Unicode MS"/>
                      </a:endParaRPr>
                    </a:p>
                  </a:txBody>
                  <a:tcPr marL="3592" marR="3592" marT="359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>
                          <a:effectLst/>
                        </a:rPr>
                        <a:t>42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92" marR="3592" marT="3592" marB="0" anchor="b"/>
                </a:tc>
                <a:extLst>
                  <a:ext uri="{0D108BD9-81ED-4DB2-BD59-A6C34878D82A}">
                    <a16:rowId xmlns:a16="http://schemas.microsoft.com/office/drawing/2014/main" val="3686341635"/>
                  </a:ext>
                </a:extLst>
              </a:tr>
              <a:tr h="1074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1.85</a:t>
                      </a:r>
                      <a:endParaRPr lang="en-US" sz="700" b="0" i="0" u="none" strike="noStrike">
                        <a:solidFill>
                          <a:srgbClr val="DAE3E3"/>
                        </a:solidFill>
                        <a:effectLst/>
                        <a:latin typeface="Arial Unicode MS"/>
                      </a:endParaRPr>
                    </a:p>
                  </a:txBody>
                  <a:tcPr marL="3592" marR="3592" marT="359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>
                          <a:effectLst/>
                        </a:rPr>
                        <a:t>41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92" marR="3592" marT="3592" marB="0" anchor="b"/>
                </a:tc>
                <a:extLst>
                  <a:ext uri="{0D108BD9-81ED-4DB2-BD59-A6C34878D82A}">
                    <a16:rowId xmlns:a16="http://schemas.microsoft.com/office/drawing/2014/main" val="1831174804"/>
                  </a:ext>
                </a:extLst>
              </a:tr>
              <a:tr h="1074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1.8</a:t>
                      </a:r>
                      <a:endParaRPr lang="en-US" sz="700" b="0" i="0" u="none" strike="noStrike">
                        <a:solidFill>
                          <a:srgbClr val="DAE3E3"/>
                        </a:solidFill>
                        <a:effectLst/>
                        <a:latin typeface="Arial Unicode MS"/>
                      </a:endParaRPr>
                    </a:p>
                  </a:txBody>
                  <a:tcPr marL="3592" marR="3592" marT="359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>
                          <a:effectLst/>
                        </a:rPr>
                        <a:t>40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92" marR="3592" marT="3592" marB="0" anchor="b"/>
                </a:tc>
                <a:extLst>
                  <a:ext uri="{0D108BD9-81ED-4DB2-BD59-A6C34878D82A}">
                    <a16:rowId xmlns:a16="http://schemas.microsoft.com/office/drawing/2014/main" val="580393848"/>
                  </a:ext>
                </a:extLst>
              </a:tr>
              <a:tr h="1074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1.78</a:t>
                      </a:r>
                      <a:endParaRPr lang="en-US" sz="700" b="0" i="0" u="none" strike="noStrike">
                        <a:solidFill>
                          <a:srgbClr val="DAE3E3"/>
                        </a:solidFill>
                        <a:effectLst/>
                        <a:latin typeface="Arial Unicode MS"/>
                      </a:endParaRPr>
                    </a:p>
                  </a:txBody>
                  <a:tcPr marL="3592" marR="3592" marT="359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>
                          <a:effectLst/>
                        </a:rPr>
                        <a:t>39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92" marR="3592" marT="3592" marB="0" anchor="b"/>
                </a:tc>
                <a:extLst>
                  <a:ext uri="{0D108BD9-81ED-4DB2-BD59-A6C34878D82A}">
                    <a16:rowId xmlns:a16="http://schemas.microsoft.com/office/drawing/2014/main" val="1280036008"/>
                  </a:ext>
                </a:extLst>
              </a:tr>
              <a:tr h="1074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1.76</a:t>
                      </a:r>
                      <a:endParaRPr lang="en-US" sz="700" b="0" i="0" u="none" strike="noStrike">
                        <a:solidFill>
                          <a:srgbClr val="DAE3E3"/>
                        </a:solidFill>
                        <a:effectLst/>
                        <a:latin typeface="Arial Unicode MS"/>
                      </a:endParaRPr>
                    </a:p>
                  </a:txBody>
                  <a:tcPr marL="3592" marR="3592" marT="359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>
                          <a:effectLst/>
                        </a:rPr>
                        <a:t>38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92" marR="3592" marT="3592" marB="0" anchor="b"/>
                </a:tc>
                <a:extLst>
                  <a:ext uri="{0D108BD9-81ED-4DB2-BD59-A6C34878D82A}">
                    <a16:rowId xmlns:a16="http://schemas.microsoft.com/office/drawing/2014/main" val="524775976"/>
                  </a:ext>
                </a:extLst>
              </a:tr>
              <a:tr h="1074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1.75</a:t>
                      </a:r>
                      <a:endParaRPr lang="en-US" sz="700" b="0" i="0" u="none" strike="noStrike">
                        <a:solidFill>
                          <a:srgbClr val="DAE3E3"/>
                        </a:solidFill>
                        <a:effectLst/>
                        <a:latin typeface="Arial Unicode MS"/>
                      </a:endParaRPr>
                    </a:p>
                  </a:txBody>
                  <a:tcPr marL="3592" marR="3592" marT="359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>
                          <a:effectLst/>
                        </a:rPr>
                        <a:t>37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92" marR="3592" marT="3592" marB="0" anchor="b"/>
                </a:tc>
                <a:extLst>
                  <a:ext uri="{0D108BD9-81ED-4DB2-BD59-A6C34878D82A}">
                    <a16:rowId xmlns:a16="http://schemas.microsoft.com/office/drawing/2014/main" val="1628338271"/>
                  </a:ext>
                </a:extLst>
              </a:tr>
              <a:tr h="1074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1.74</a:t>
                      </a:r>
                      <a:endParaRPr lang="en-US" sz="700" b="0" i="0" u="none" strike="noStrike">
                        <a:solidFill>
                          <a:srgbClr val="DAE3E3"/>
                        </a:solidFill>
                        <a:effectLst/>
                        <a:latin typeface="Arial Unicode MS"/>
                      </a:endParaRPr>
                    </a:p>
                  </a:txBody>
                  <a:tcPr marL="3592" marR="3592" marT="359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>
                          <a:effectLst/>
                        </a:rPr>
                        <a:t>36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92" marR="3592" marT="3592" marB="0" anchor="b"/>
                </a:tc>
                <a:extLst>
                  <a:ext uri="{0D108BD9-81ED-4DB2-BD59-A6C34878D82A}">
                    <a16:rowId xmlns:a16="http://schemas.microsoft.com/office/drawing/2014/main" val="2837624145"/>
                  </a:ext>
                </a:extLst>
              </a:tr>
              <a:tr h="1074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1.71</a:t>
                      </a:r>
                      <a:endParaRPr lang="en-US" sz="700" b="0" i="0" u="none" strike="noStrike">
                        <a:solidFill>
                          <a:srgbClr val="DAE3E3"/>
                        </a:solidFill>
                        <a:effectLst/>
                        <a:latin typeface="Arial Unicode MS"/>
                      </a:endParaRPr>
                    </a:p>
                  </a:txBody>
                  <a:tcPr marL="3592" marR="3592" marT="359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>
                          <a:effectLst/>
                        </a:rPr>
                        <a:t>35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92" marR="3592" marT="3592" marB="0" anchor="b"/>
                </a:tc>
                <a:extLst>
                  <a:ext uri="{0D108BD9-81ED-4DB2-BD59-A6C34878D82A}">
                    <a16:rowId xmlns:a16="http://schemas.microsoft.com/office/drawing/2014/main" val="204017277"/>
                  </a:ext>
                </a:extLst>
              </a:tr>
              <a:tr h="1074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1.72</a:t>
                      </a:r>
                      <a:endParaRPr lang="en-US" sz="700" b="0" i="0" u="none" strike="noStrike">
                        <a:solidFill>
                          <a:srgbClr val="DAE3E3"/>
                        </a:solidFill>
                        <a:effectLst/>
                        <a:latin typeface="Arial Unicode MS"/>
                      </a:endParaRPr>
                    </a:p>
                  </a:txBody>
                  <a:tcPr marL="3592" marR="3592" marT="359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>
                          <a:effectLst/>
                        </a:rPr>
                        <a:t>34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92" marR="3592" marT="3592" marB="0" anchor="b"/>
                </a:tc>
                <a:extLst>
                  <a:ext uri="{0D108BD9-81ED-4DB2-BD59-A6C34878D82A}">
                    <a16:rowId xmlns:a16="http://schemas.microsoft.com/office/drawing/2014/main" val="37112421"/>
                  </a:ext>
                </a:extLst>
              </a:tr>
              <a:tr h="1074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1.71</a:t>
                      </a:r>
                      <a:endParaRPr lang="en-US" sz="700" b="0" i="0" u="none" strike="noStrike">
                        <a:solidFill>
                          <a:srgbClr val="DAE3E3"/>
                        </a:solidFill>
                        <a:effectLst/>
                        <a:latin typeface="Arial Unicode MS"/>
                      </a:endParaRPr>
                    </a:p>
                  </a:txBody>
                  <a:tcPr marL="3592" marR="3592" marT="359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>
                          <a:effectLst/>
                        </a:rPr>
                        <a:t>33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92" marR="3592" marT="3592" marB="0" anchor="b"/>
                </a:tc>
                <a:extLst>
                  <a:ext uri="{0D108BD9-81ED-4DB2-BD59-A6C34878D82A}">
                    <a16:rowId xmlns:a16="http://schemas.microsoft.com/office/drawing/2014/main" val="1192622637"/>
                  </a:ext>
                </a:extLst>
              </a:tr>
              <a:tr h="1074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1.67</a:t>
                      </a:r>
                      <a:endParaRPr lang="en-US" sz="700" b="0" i="0" u="none" strike="noStrike">
                        <a:solidFill>
                          <a:srgbClr val="DAE3E3"/>
                        </a:solidFill>
                        <a:effectLst/>
                        <a:latin typeface="Arial Unicode MS"/>
                      </a:endParaRPr>
                    </a:p>
                  </a:txBody>
                  <a:tcPr marL="3592" marR="3592" marT="359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>
                          <a:effectLst/>
                        </a:rPr>
                        <a:t>32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92" marR="3592" marT="3592" marB="0" anchor="b"/>
                </a:tc>
                <a:extLst>
                  <a:ext uri="{0D108BD9-81ED-4DB2-BD59-A6C34878D82A}">
                    <a16:rowId xmlns:a16="http://schemas.microsoft.com/office/drawing/2014/main" val="3597770728"/>
                  </a:ext>
                </a:extLst>
              </a:tr>
              <a:tr h="1074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1.65</a:t>
                      </a:r>
                      <a:endParaRPr lang="en-US" sz="700" b="0" i="0" u="none" strike="noStrike">
                        <a:solidFill>
                          <a:srgbClr val="DAE3E3"/>
                        </a:solidFill>
                        <a:effectLst/>
                        <a:latin typeface="Arial Unicode MS"/>
                      </a:endParaRPr>
                    </a:p>
                  </a:txBody>
                  <a:tcPr marL="3592" marR="3592" marT="359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>
                          <a:effectLst/>
                        </a:rPr>
                        <a:t>31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92" marR="3592" marT="3592" marB="0" anchor="b"/>
                </a:tc>
                <a:extLst>
                  <a:ext uri="{0D108BD9-81ED-4DB2-BD59-A6C34878D82A}">
                    <a16:rowId xmlns:a16="http://schemas.microsoft.com/office/drawing/2014/main" val="3976013802"/>
                  </a:ext>
                </a:extLst>
              </a:tr>
              <a:tr h="1074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1.63</a:t>
                      </a:r>
                      <a:endParaRPr lang="en-US" sz="700" b="0" i="0" u="none" strike="noStrike">
                        <a:solidFill>
                          <a:srgbClr val="DAE3E3"/>
                        </a:solidFill>
                        <a:effectLst/>
                        <a:latin typeface="Arial Unicode MS"/>
                      </a:endParaRPr>
                    </a:p>
                  </a:txBody>
                  <a:tcPr marL="3592" marR="3592" marT="359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>
                          <a:effectLst/>
                        </a:rPr>
                        <a:t>30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92" marR="3592" marT="3592" marB="0" anchor="b"/>
                </a:tc>
                <a:extLst>
                  <a:ext uri="{0D108BD9-81ED-4DB2-BD59-A6C34878D82A}">
                    <a16:rowId xmlns:a16="http://schemas.microsoft.com/office/drawing/2014/main" val="396235148"/>
                  </a:ext>
                </a:extLst>
              </a:tr>
              <a:tr h="1074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1.62</a:t>
                      </a:r>
                      <a:endParaRPr lang="en-US" sz="700" b="0" i="0" u="none" strike="noStrike">
                        <a:solidFill>
                          <a:srgbClr val="DAE3E3"/>
                        </a:solidFill>
                        <a:effectLst/>
                        <a:latin typeface="Arial Unicode MS"/>
                      </a:endParaRPr>
                    </a:p>
                  </a:txBody>
                  <a:tcPr marL="3592" marR="3592" marT="359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>
                          <a:effectLst/>
                        </a:rPr>
                        <a:t>29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92" marR="3592" marT="3592" marB="0" anchor="b"/>
                </a:tc>
                <a:extLst>
                  <a:ext uri="{0D108BD9-81ED-4DB2-BD59-A6C34878D82A}">
                    <a16:rowId xmlns:a16="http://schemas.microsoft.com/office/drawing/2014/main" val="1353893927"/>
                  </a:ext>
                </a:extLst>
              </a:tr>
              <a:tr h="1074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1.6</a:t>
                      </a:r>
                      <a:endParaRPr lang="en-US" sz="700" b="0" i="0" u="none" strike="noStrike">
                        <a:solidFill>
                          <a:srgbClr val="DAE3E3"/>
                        </a:solidFill>
                        <a:effectLst/>
                        <a:latin typeface="Arial Unicode MS"/>
                      </a:endParaRPr>
                    </a:p>
                  </a:txBody>
                  <a:tcPr marL="3592" marR="3592" marT="359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>
                          <a:effectLst/>
                        </a:rPr>
                        <a:t>28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92" marR="3592" marT="3592" marB="0" anchor="b"/>
                </a:tc>
                <a:extLst>
                  <a:ext uri="{0D108BD9-81ED-4DB2-BD59-A6C34878D82A}">
                    <a16:rowId xmlns:a16="http://schemas.microsoft.com/office/drawing/2014/main" val="3732801052"/>
                  </a:ext>
                </a:extLst>
              </a:tr>
              <a:tr h="1074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1.6</a:t>
                      </a:r>
                      <a:endParaRPr lang="en-US" sz="700" b="0" i="0" u="none" strike="noStrike">
                        <a:solidFill>
                          <a:srgbClr val="DAE3E3"/>
                        </a:solidFill>
                        <a:effectLst/>
                        <a:latin typeface="Arial Unicode MS"/>
                      </a:endParaRPr>
                    </a:p>
                  </a:txBody>
                  <a:tcPr marL="3592" marR="3592" marT="359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>
                          <a:effectLst/>
                        </a:rPr>
                        <a:t>27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92" marR="3592" marT="3592" marB="0" anchor="b"/>
                </a:tc>
                <a:extLst>
                  <a:ext uri="{0D108BD9-81ED-4DB2-BD59-A6C34878D82A}">
                    <a16:rowId xmlns:a16="http://schemas.microsoft.com/office/drawing/2014/main" val="3345501047"/>
                  </a:ext>
                </a:extLst>
              </a:tr>
              <a:tr h="1074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1.61</a:t>
                      </a:r>
                      <a:endParaRPr lang="en-US" sz="700" b="0" i="0" u="none" strike="noStrike">
                        <a:solidFill>
                          <a:srgbClr val="DAE3E3"/>
                        </a:solidFill>
                        <a:effectLst/>
                        <a:latin typeface="Arial Unicode MS"/>
                      </a:endParaRPr>
                    </a:p>
                  </a:txBody>
                  <a:tcPr marL="3592" marR="3592" marT="359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>
                          <a:effectLst/>
                        </a:rPr>
                        <a:t>26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92" marR="3592" marT="3592" marB="0" anchor="b"/>
                </a:tc>
                <a:extLst>
                  <a:ext uri="{0D108BD9-81ED-4DB2-BD59-A6C34878D82A}">
                    <a16:rowId xmlns:a16="http://schemas.microsoft.com/office/drawing/2014/main" val="701599906"/>
                  </a:ext>
                </a:extLst>
              </a:tr>
              <a:tr h="1074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1.58</a:t>
                      </a:r>
                      <a:endParaRPr lang="en-US" sz="700" b="0" i="0" u="none" strike="noStrike">
                        <a:solidFill>
                          <a:srgbClr val="DAE3E3"/>
                        </a:solidFill>
                        <a:effectLst/>
                        <a:latin typeface="Arial Unicode MS"/>
                      </a:endParaRPr>
                    </a:p>
                  </a:txBody>
                  <a:tcPr marL="3592" marR="3592" marT="359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>
                          <a:effectLst/>
                        </a:rPr>
                        <a:t>25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92" marR="3592" marT="3592" marB="0" anchor="b"/>
                </a:tc>
                <a:extLst>
                  <a:ext uri="{0D108BD9-81ED-4DB2-BD59-A6C34878D82A}">
                    <a16:rowId xmlns:a16="http://schemas.microsoft.com/office/drawing/2014/main" val="3475359006"/>
                  </a:ext>
                </a:extLst>
              </a:tr>
              <a:tr h="1074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1.57</a:t>
                      </a:r>
                      <a:endParaRPr lang="en-US" sz="700" b="0" i="0" u="none" strike="noStrike">
                        <a:solidFill>
                          <a:srgbClr val="DAE3E3"/>
                        </a:solidFill>
                        <a:effectLst/>
                        <a:latin typeface="Arial Unicode MS"/>
                      </a:endParaRPr>
                    </a:p>
                  </a:txBody>
                  <a:tcPr marL="3592" marR="3592" marT="359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>
                          <a:effectLst/>
                        </a:rPr>
                        <a:t>24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92" marR="3592" marT="3592" marB="0" anchor="b"/>
                </a:tc>
                <a:extLst>
                  <a:ext uri="{0D108BD9-81ED-4DB2-BD59-A6C34878D82A}">
                    <a16:rowId xmlns:a16="http://schemas.microsoft.com/office/drawing/2014/main" val="522247374"/>
                  </a:ext>
                </a:extLst>
              </a:tr>
              <a:tr h="1074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1.56</a:t>
                      </a:r>
                      <a:endParaRPr lang="en-US" sz="700" b="0" i="0" u="none" strike="noStrike">
                        <a:solidFill>
                          <a:srgbClr val="DAE3E3"/>
                        </a:solidFill>
                        <a:effectLst/>
                        <a:latin typeface="Arial Unicode MS"/>
                      </a:endParaRPr>
                    </a:p>
                  </a:txBody>
                  <a:tcPr marL="3592" marR="3592" marT="359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>
                          <a:effectLst/>
                        </a:rPr>
                        <a:t>23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92" marR="3592" marT="3592" marB="0" anchor="b"/>
                </a:tc>
                <a:extLst>
                  <a:ext uri="{0D108BD9-81ED-4DB2-BD59-A6C34878D82A}">
                    <a16:rowId xmlns:a16="http://schemas.microsoft.com/office/drawing/2014/main" val="3704163372"/>
                  </a:ext>
                </a:extLst>
              </a:tr>
              <a:tr h="1074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1.54</a:t>
                      </a:r>
                      <a:endParaRPr lang="en-US" sz="700" b="0" i="0" u="none" strike="noStrike">
                        <a:solidFill>
                          <a:srgbClr val="DAE3E3"/>
                        </a:solidFill>
                        <a:effectLst/>
                        <a:latin typeface="Arial Unicode MS"/>
                      </a:endParaRPr>
                    </a:p>
                  </a:txBody>
                  <a:tcPr marL="3592" marR="3592" marT="359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>
                          <a:effectLst/>
                        </a:rPr>
                        <a:t>22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92" marR="3592" marT="3592" marB="0" anchor="b"/>
                </a:tc>
                <a:extLst>
                  <a:ext uri="{0D108BD9-81ED-4DB2-BD59-A6C34878D82A}">
                    <a16:rowId xmlns:a16="http://schemas.microsoft.com/office/drawing/2014/main" val="2011919435"/>
                  </a:ext>
                </a:extLst>
              </a:tr>
              <a:tr h="1074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1.54</a:t>
                      </a:r>
                      <a:endParaRPr lang="en-US" sz="700" b="0" i="0" u="none" strike="noStrike">
                        <a:solidFill>
                          <a:srgbClr val="DAE3E3"/>
                        </a:solidFill>
                        <a:effectLst/>
                        <a:latin typeface="Arial Unicode MS"/>
                      </a:endParaRPr>
                    </a:p>
                  </a:txBody>
                  <a:tcPr marL="3592" marR="3592" marT="359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>
                          <a:effectLst/>
                        </a:rPr>
                        <a:t>21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92" marR="3592" marT="3592" marB="0" anchor="b"/>
                </a:tc>
                <a:extLst>
                  <a:ext uri="{0D108BD9-81ED-4DB2-BD59-A6C34878D82A}">
                    <a16:rowId xmlns:a16="http://schemas.microsoft.com/office/drawing/2014/main" val="3685315576"/>
                  </a:ext>
                </a:extLst>
              </a:tr>
              <a:tr h="1074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1.54</a:t>
                      </a:r>
                      <a:endParaRPr lang="en-US" sz="700" b="0" i="0" u="none" strike="noStrike">
                        <a:solidFill>
                          <a:srgbClr val="DAE3E3"/>
                        </a:solidFill>
                        <a:effectLst/>
                        <a:latin typeface="Arial Unicode MS"/>
                      </a:endParaRPr>
                    </a:p>
                  </a:txBody>
                  <a:tcPr marL="3592" marR="3592" marT="359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>
                          <a:effectLst/>
                        </a:rPr>
                        <a:t>20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92" marR="3592" marT="3592" marB="0" anchor="b"/>
                </a:tc>
                <a:extLst>
                  <a:ext uri="{0D108BD9-81ED-4DB2-BD59-A6C34878D82A}">
                    <a16:rowId xmlns:a16="http://schemas.microsoft.com/office/drawing/2014/main" val="2911837451"/>
                  </a:ext>
                </a:extLst>
              </a:tr>
              <a:tr h="1074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1.55</a:t>
                      </a:r>
                      <a:endParaRPr lang="en-US" sz="700" b="0" i="0" u="none" strike="noStrike">
                        <a:solidFill>
                          <a:srgbClr val="DAE3E3"/>
                        </a:solidFill>
                        <a:effectLst/>
                        <a:latin typeface="Arial Unicode MS"/>
                      </a:endParaRPr>
                    </a:p>
                  </a:txBody>
                  <a:tcPr marL="3592" marR="3592" marT="359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>
                          <a:effectLst/>
                        </a:rPr>
                        <a:t>19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92" marR="3592" marT="3592" marB="0" anchor="b"/>
                </a:tc>
                <a:extLst>
                  <a:ext uri="{0D108BD9-81ED-4DB2-BD59-A6C34878D82A}">
                    <a16:rowId xmlns:a16="http://schemas.microsoft.com/office/drawing/2014/main" val="3795752622"/>
                  </a:ext>
                </a:extLst>
              </a:tr>
              <a:tr h="1074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1.57</a:t>
                      </a:r>
                      <a:endParaRPr lang="en-US" sz="700" b="0" i="0" u="none" strike="noStrike">
                        <a:solidFill>
                          <a:srgbClr val="DAE3E3"/>
                        </a:solidFill>
                        <a:effectLst/>
                        <a:latin typeface="Arial Unicode MS"/>
                      </a:endParaRPr>
                    </a:p>
                  </a:txBody>
                  <a:tcPr marL="3592" marR="3592" marT="359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>
                          <a:effectLst/>
                        </a:rPr>
                        <a:t>18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92" marR="3592" marT="3592" marB="0" anchor="b"/>
                </a:tc>
                <a:extLst>
                  <a:ext uri="{0D108BD9-81ED-4DB2-BD59-A6C34878D82A}">
                    <a16:rowId xmlns:a16="http://schemas.microsoft.com/office/drawing/2014/main" val="238413509"/>
                  </a:ext>
                </a:extLst>
              </a:tr>
              <a:tr h="1074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1.58</a:t>
                      </a:r>
                      <a:endParaRPr lang="en-US" sz="700" b="0" i="0" u="none" strike="noStrike">
                        <a:solidFill>
                          <a:srgbClr val="DAE3E3"/>
                        </a:solidFill>
                        <a:effectLst/>
                        <a:latin typeface="Arial Unicode MS"/>
                      </a:endParaRPr>
                    </a:p>
                  </a:txBody>
                  <a:tcPr marL="3592" marR="3592" marT="359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>
                          <a:effectLst/>
                        </a:rPr>
                        <a:t>17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92" marR="3592" marT="3592" marB="0" anchor="b"/>
                </a:tc>
                <a:extLst>
                  <a:ext uri="{0D108BD9-81ED-4DB2-BD59-A6C34878D82A}">
                    <a16:rowId xmlns:a16="http://schemas.microsoft.com/office/drawing/2014/main" val="1653248226"/>
                  </a:ext>
                </a:extLst>
              </a:tr>
              <a:tr h="1074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1.59</a:t>
                      </a:r>
                      <a:endParaRPr lang="en-US" sz="700" b="0" i="0" u="none" strike="noStrike">
                        <a:solidFill>
                          <a:srgbClr val="DAE3E3"/>
                        </a:solidFill>
                        <a:effectLst/>
                        <a:latin typeface="Arial Unicode MS"/>
                      </a:endParaRPr>
                    </a:p>
                  </a:txBody>
                  <a:tcPr marL="3592" marR="3592" marT="359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>
                          <a:effectLst/>
                        </a:rPr>
                        <a:t>16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92" marR="3592" marT="3592" marB="0" anchor="b"/>
                </a:tc>
                <a:extLst>
                  <a:ext uri="{0D108BD9-81ED-4DB2-BD59-A6C34878D82A}">
                    <a16:rowId xmlns:a16="http://schemas.microsoft.com/office/drawing/2014/main" val="1161298898"/>
                  </a:ext>
                </a:extLst>
              </a:tr>
              <a:tr h="1074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1.57</a:t>
                      </a:r>
                      <a:endParaRPr lang="en-US" sz="700" b="0" i="0" u="none" strike="noStrike">
                        <a:solidFill>
                          <a:srgbClr val="DAE3E3"/>
                        </a:solidFill>
                        <a:effectLst/>
                        <a:latin typeface="Arial Unicode MS"/>
                      </a:endParaRPr>
                    </a:p>
                  </a:txBody>
                  <a:tcPr marL="3592" marR="3592" marT="359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>
                          <a:effectLst/>
                        </a:rPr>
                        <a:t>15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92" marR="3592" marT="3592" marB="0" anchor="b"/>
                </a:tc>
                <a:extLst>
                  <a:ext uri="{0D108BD9-81ED-4DB2-BD59-A6C34878D82A}">
                    <a16:rowId xmlns:a16="http://schemas.microsoft.com/office/drawing/2014/main" val="842138108"/>
                  </a:ext>
                </a:extLst>
              </a:tr>
              <a:tr h="1074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1.55</a:t>
                      </a:r>
                      <a:endParaRPr lang="en-US" sz="700" b="0" i="0" u="none" strike="noStrike">
                        <a:solidFill>
                          <a:srgbClr val="DAE3E3"/>
                        </a:solidFill>
                        <a:effectLst/>
                        <a:latin typeface="Arial Unicode MS"/>
                      </a:endParaRPr>
                    </a:p>
                  </a:txBody>
                  <a:tcPr marL="3592" marR="3592" marT="359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>
                          <a:effectLst/>
                        </a:rPr>
                        <a:t>14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92" marR="3592" marT="3592" marB="0" anchor="b"/>
                </a:tc>
                <a:extLst>
                  <a:ext uri="{0D108BD9-81ED-4DB2-BD59-A6C34878D82A}">
                    <a16:rowId xmlns:a16="http://schemas.microsoft.com/office/drawing/2014/main" val="2100981077"/>
                  </a:ext>
                </a:extLst>
              </a:tr>
              <a:tr h="1074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1.59</a:t>
                      </a:r>
                      <a:endParaRPr lang="en-US" sz="700" b="0" i="0" u="none" strike="noStrike">
                        <a:solidFill>
                          <a:srgbClr val="DAE3E3"/>
                        </a:solidFill>
                        <a:effectLst/>
                        <a:latin typeface="Arial Unicode MS"/>
                      </a:endParaRPr>
                    </a:p>
                  </a:txBody>
                  <a:tcPr marL="3592" marR="3592" marT="359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>
                          <a:effectLst/>
                        </a:rPr>
                        <a:t>13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92" marR="3592" marT="3592" marB="0" anchor="b"/>
                </a:tc>
                <a:extLst>
                  <a:ext uri="{0D108BD9-81ED-4DB2-BD59-A6C34878D82A}">
                    <a16:rowId xmlns:a16="http://schemas.microsoft.com/office/drawing/2014/main" val="2872719146"/>
                  </a:ext>
                </a:extLst>
              </a:tr>
              <a:tr h="1074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1.56</a:t>
                      </a:r>
                      <a:endParaRPr lang="en-US" sz="700" b="0" i="0" u="none" strike="noStrike">
                        <a:solidFill>
                          <a:srgbClr val="DAE3E3"/>
                        </a:solidFill>
                        <a:effectLst/>
                        <a:latin typeface="Arial Unicode MS"/>
                      </a:endParaRPr>
                    </a:p>
                  </a:txBody>
                  <a:tcPr marL="3592" marR="3592" marT="359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>
                          <a:effectLst/>
                        </a:rPr>
                        <a:t>12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92" marR="3592" marT="3592" marB="0" anchor="b"/>
                </a:tc>
                <a:extLst>
                  <a:ext uri="{0D108BD9-81ED-4DB2-BD59-A6C34878D82A}">
                    <a16:rowId xmlns:a16="http://schemas.microsoft.com/office/drawing/2014/main" val="1672166263"/>
                  </a:ext>
                </a:extLst>
              </a:tr>
              <a:tr h="1074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1.54</a:t>
                      </a:r>
                      <a:endParaRPr lang="en-US" sz="700" b="0" i="0" u="none" strike="noStrike">
                        <a:solidFill>
                          <a:srgbClr val="DAE3E3"/>
                        </a:solidFill>
                        <a:effectLst/>
                        <a:latin typeface="Arial Unicode MS"/>
                      </a:endParaRPr>
                    </a:p>
                  </a:txBody>
                  <a:tcPr marL="3592" marR="3592" marT="359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>
                          <a:effectLst/>
                        </a:rPr>
                        <a:t>11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92" marR="3592" marT="3592" marB="0" anchor="b"/>
                </a:tc>
                <a:extLst>
                  <a:ext uri="{0D108BD9-81ED-4DB2-BD59-A6C34878D82A}">
                    <a16:rowId xmlns:a16="http://schemas.microsoft.com/office/drawing/2014/main" val="1836607435"/>
                  </a:ext>
                </a:extLst>
              </a:tr>
              <a:tr h="1074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1.58</a:t>
                      </a:r>
                      <a:endParaRPr lang="en-US" sz="700" b="0" i="0" u="none" strike="noStrike">
                        <a:solidFill>
                          <a:srgbClr val="DAE3E3"/>
                        </a:solidFill>
                        <a:effectLst/>
                        <a:latin typeface="Arial Unicode MS"/>
                      </a:endParaRPr>
                    </a:p>
                  </a:txBody>
                  <a:tcPr marL="3592" marR="3592" marT="359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>
                          <a:effectLst/>
                        </a:rPr>
                        <a:t>10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92" marR="3592" marT="3592" marB="0" anchor="b"/>
                </a:tc>
                <a:extLst>
                  <a:ext uri="{0D108BD9-81ED-4DB2-BD59-A6C34878D82A}">
                    <a16:rowId xmlns:a16="http://schemas.microsoft.com/office/drawing/2014/main" val="656530478"/>
                  </a:ext>
                </a:extLst>
              </a:tr>
              <a:tr h="1074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1.58</a:t>
                      </a:r>
                      <a:endParaRPr lang="en-US" sz="700" b="0" i="0" u="none" strike="noStrike">
                        <a:solidFill>
                          <a:srgbClr val="DAE3E3"/>
                        </a:solidFill>
                        <a:effectLst/>
                        <a:latin typeface="Arial Unicode MS"/>
                      </a:endParaRPr>
                    </a:p>
                  </a:txBody>
                  <a:tcPr marL="3592" marR="3592" marT="359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>
                          <a:effectLst/>
                        </a:rPr>
                        <a:t>9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92" marR="3592" marT="3592" marB="0" anchor="b"/>
                </a:tc>
                <a:extLst>
                  <a:ext uri="{0D108BD9-81ED-4DB2-BD59-A6C34878D82A}">
                    <a16:rowId xmlns:a16="http://schemas.microsoft.com/office/drawing/2014/main" val="3061701293"/>
                  </a:ext>
                </a:extLst>
              </a:tr>
              <a:tr h="1074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1.58</a:t>
                      </a:r>
                      <a:endParaRPr lang="en-US" sz="700" b="0" i="0" u="none" strike="noStrike">
                        <a:solidFill>
                          <a:srgbClr val="DAE3E3"/>
                        </a:solidFill>
                        <a:effectLst/>
                        <a:latin typeface="Arial Unicode MS"/>
                      </a:endParaRPr>
                    </a:p>
                  </a:txBody>
                  <a:tcPr marL="3592" marR="3592" marT="359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>
                          <a:effectLst/>
                        </a:rPr>
                        <a:t>8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92" marR="3592" marT="3592" marB="0" anchor="b"/>
                </a:tc>
                <a:extLst>
                  <a:ext uri="{0D108BD9-81ED-4DB2-BD59-A6C34878D82A}">
                    <a16:rowId xmlns:a16="http://schemas.microsoft.com/office/drawing/2014/main" val="2754685197"/>
                  </a:ext>
                </a:extLst>
              </a:tr>
              <a:tr h="1074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1.58</a:t>
                      </a:r>
                      <a:endParaRPr lang="en-US" sz="700" b="0" i="0" u="none" strike="noStrike">
                        <a:solidFill>
                          <a:srgbClr val="DAE3E3"/>
                        </a:solidFill>
                        <a:effectLst/>
                        <a:latin typeface="Arial Unicode MS"/>
                      </a:endParaRPr>
                    </a:p>
                  </a:txBody>
                  <a:tcPr marL="3592" marR="3592" marT="359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>
                          <a:effectLst/>
                        </a:rPr>
                        <a:t>7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92" marR="3592" marT="3592" marB="0" anchor="b"/>
                </a:tc>
                <a:extLst>
                  <a:ext uri="{0D108BD9-81ED-4DB2-BD59-A6C34878D82A}">
                    <a16:rowId xmlns:a16="http://schemas.microsoft.com/office/drawing/2014/main" val="19270996"/>
                  </a:ext>
                </a:extLst>
              </a:tr>
              <a:tr h="1074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1.58</a:t>
                      </a:r>
                      <a:endParaRPr lang="en-US" sz="700" b="0" i="0" u="none" strike="noStrike">
                        <a:solidFill>
                          <a:srgbClr val="DAE3E3"/>
                        </a:solidFill>
                        <a:effectLst/>
                        <a:latin typeface="Arial Unicode MS"/>
                      </a:endParaRPr>
                    </a:p>
                  </a:txBody>
                  <a:tcPr marL="3592" marR="3592" marT="359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>
                          <a:effectLst/>
                        </a:rPr>
                        <a:t>6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92" marR="3592" marT="3592" marB="0" anchor="b"/>
                </a:tc>
                <a:extLst>
                  <a:ext uri="{0D108BD9-81ED-4DB2-BD59-A6C34878D82A}">
                    <a16:rowId xmlns:a16="http://schemas.microsoft.com/office/drawing/2014/main" val="2709742217"/>
                  </a:ext>
                </a:extLst>
              </a:tr>
              <a:tr h="1074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1.62</a:t>
                      </a:r>
                      <a:endParaRPr lang="en-US" sz="700" b="0" i="0" u="none" strike="noStrike">
                        <a:solidFill>
                          <a:srgbClr val="DAE3E3"/>
                        </a:solidFill>
                        <a:effectLst/>
                        <a:latin typeface="Arial Unicode MS"/>
                      </a:endParaRPr>
                    </a:p>
                  </a:txBody>
                  <a:tcPr marL="3592" marR="3592" marT="359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>
                          <a:effectLst/>
                        </a:rPr>
                        <a:t>5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92" marR="3592" marT="3592" marB="0" anchor="b"/>
                </a:tc>
                <a:extLst>
                  <a:ext uri="{0D108BD9-81ED-4DB2-BD59-A6C34878D82A}">
                    <a16:rowId xmlns:a16="http://schemas.microsoft.com/office/drawing/2014/main" val="1416977156"/>
                  </a:ext>
                </a:extLst>
              </a:tr>
              <a:tr h="1074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1.61</a:t>
                      </a:r>
                      <a:endParaRPr lang="en-US" sz="700" b="0" i="0" u="none" strike="noStrike">
                        <a:solidFill>
                          <a:srgbClr val="DAE3E3"/>
                        </a:solidFill>
                        <a:effectLst/>
                        <a:latin typeface="Arial Unicode MS"/>
                      </a:endParaRPr>
                    </a:p>
                  </a:txBody>
                  <a:tcPr marL="3592" marR="3592" marT="359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>
                          <a:effectLst/>
                        </a:rPr>
                        <a:t>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92" marR="3592" marT="3592" marB="0" anchor="b"/>
                </a:tc>
                <a:extLst>
                  <a:ext uri="{0D108BD9-81ED-4DB2-BD59-A6C34878D82A}">
                    <a16:rowId xmlns:a16="http://schemas.microsoft.com/office/drawing/2014/main" val="1624520835"/>
                  </a:ext>
                </a:extLst>
              </a:tr>
              <a:tr h="1074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1.62</a:t>
                      </a:r>
                      <a:endParaRPr lang="en-US" sz="700" b="0" i="0" u="none" strike="noStrike">
                        <a:solidFill>
                          <a:srgbClr val="DAE3E3"/>
                        </a:solidFill>
                        <a:effectLst/>
                        <a:latin typeface="Arial Unicode MS"/>
                      </a:endParaRPr>
                    </a:p>
                  </a:txBody>
                  <a:tcPr marL="3592" marR="3592" marT="359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>
                          <a:effectLst/>
                        </a:rPr>
                        <a:t>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92" marR="3592" marT="3592" marB="0" anchor="b"/>
                </a:tc>
                <a:extLst>
                  <a:ext uri="{0D108BD9-81ED-4DB2-BD59-A6C34878D82A}">
                    <a16:rowId xmlns:a16="http://schemas.microsoft.com/office/drawing/2014/main" val="683233852"/>
                  </a:ext>
                </a:extLst>
              </a:tr>
              <a:tr h="1074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1.61</a:t>
                      </a:r>
                      <a:endParaRPr lang="en-US" sz="700" b="0" i="0" u="none" strike="noStrike">
                        <a:solidFill>
                          <a:srgbClr val="DAE3E3"/>
                        </a:solidFill>
                        <a:effectLst/>
                        <a:latin typeface="Arial Unicode MS"/>
                      </a:endParaRPr>
                    </a:p>
                  </a:txBody>
                  <a:tcPr marL="3592" marR="3592" marT="359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>
                          <a:effectLst/>
                        </a:rPr>
                        <a:t>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92" marR="3592" marT="3592" marB="0" anchor="b"/>
                </a:tc>
                <a:extLst>
                  <a:ext uri="{0D108BD9-81ED-4DB2-BD59-A6C34878D82A}">
                    <a16:rowId xmlns:a16="http://schemas.microsoft.com/office/drawing/2014/main" val="3883676200"/>
                  </a:ext>
                </a:extLst>
              </a:tr>
              <a:tr h="1074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1.58</a:t>
                      </a:r>
                      <a:endParaRPr lang="en-US" sz="700" b="0" i="0" u="none" strike="noStrike">
                        <a:solidFill>
                          <a:srgbClr val="DAE3E3"/>
                        </a:solidFill>
                        <a:effectLst/>
                        <a:latin typeface="Arial Unicode MS"/>
                      </a:endParaRPr>
                    </a:p>
                  </a:txBody>
                  <a:tcPr marL="3592" marR="3592" marT="359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>
                          <a:effectLst/>
                        </a:rPr>
                        <a:t>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92" marR="3592" marT="3592" marB="0" anchor="b"/>
                </a:tc>
                <a:extLst>
                  <a:ext uri="{0D108BD9-81ED-4DB2-BD59-A6C34878D82A}">
                    <a16:rowId xmlns:a16="http://schemas.microsoft.com/office/drawing/2014/main" val="2215215532"/>
                  </a:ext>
                </a:extLst>
              </a:tr>
              <a:tr h="1074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1.57</a:t>
                      </a:r>
                      <a:endParaRPr lang="en-US" sz="700" b="0" i="0" u="none" strike="noStrike">
                        <a:solidFill>
                          <a:srgbClr val="DAE3E3"/>
                        </a:solidFill>
                        <a:effectLst/>
                        <a:latin typeface="Arial Unicode MS"/>
                      </a:endParaRPr>
                    </a:p>
                  </a:txBody>
                  <a:tcPr marL="3592" marR="3592" marT="359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>
                          <a:effectLst/>
                        </a:rPr>
                        <a:t>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92" marR="3592" marT="3592" marB="0" anchor="b"/>
                </a:tc>
                <a:extLst>
                  <a:ext uri="{0D108BD9-81ED-4DB2-BD59-A6C34878D82A}">
                    <a16:rowId xmlns:a16="http://schemas.microsoft.com/office/drawing/2014/main" val="476700652"/>
                  </a:ext>
                </a:extLst>
              </a:tr>
              <a:tr h="1074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1.55</a:t>
                      </a:r>
                      <a:endParaRPr lang="en-US" sz="700" b="0" i="0" u="none" strike="noStrike">
                        <a:solidFill>
                          <a:srgbClr val="DAE3E3"/>
                        </a:solidFill>
                        <a:effectLst/>
                        <a:latin typeface="Arial Unicode MS"/>
                      </a:endParaRPr>
                    </a:p>
                  </a:txBody>
                  <a:tcPr marL="3592" marR="3592" marT="359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>
                          <a:effectLst/>
                        </a:rPr>
                        <a:t>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92" marR="3592" marT="3592" marB="0" anchor="b"/>
                </a:tc>
                <a:extLst>
                  <a:ext uri="{0D108BD9-81ED-4DB2-BD59-A6C34878D82A}">
                    <a16:rowId xmlns:a16="http://schemas.microsoft.com/office/drawing/2014/main" val="707662319"/>
                  </a:ext>
                </a:extLst>
              </a:tr>
              <a:tr h="1074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1.53</a:t>
                      </a:r>
                      <a:endParaRPr lang="en-US" sz="700" b="0" i="0" u="none" strike="noStrike">
                        <a:solidFill>
                          <a:srgbClr val="DAE3E3"/>
                        </a:solidFill>
                        <a:effectLst/>
                        <a:latin typeface="Arial Unicode MS"/>
                      </a:endParaRPr>
                    </a:p>
                  </a:txBody>
                  <a:tcPr marL="3592" marR="3592" marT="359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>
                          <a:effectLst/>
                        </a:rPr>
                        <a:t>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92" marR="3592" marT="3592" marB="0" anchor="b"/>
                </a:tc>
                <a:extLst>
                  <a:ext uri="{0D108BD9-81ED-4DB2-BD59-A6C34878D82A}">
                    <a16:rowId xmlns:a16="http://schemas.microsoft.com/office/drawing/2014/main" val="1004349704"/>
                  </a:ext>
                </a:extLst>
              </a:tr>
              <a:tr h="1074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1.51</a:t>
                      </a:r>
                      <a:endParaRPr lang="en-US" sz="700" b="0" i="0" u="none" strike="noStrike">
                        <a:solidFill>
                          <a:srgbClr val="DAE3E3"/>
                        </a:solidFill>
                        <a:effectLst/>
                        <a:latin typeface="Arial Unicode MS"/>
                      </a:endParaRPr>
                    </a:p>
                  </a:txBody>
                  <a:tcPr marL="3592" marR="3592" marT="359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>
                          <a:effectLst/>
                        </a:rPr>
                        <a:t>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92" marR="3592" marT="3592" marB="0" anchor="b"/>
                </a:tc>
                <a:extLst>
                  <a:ext uri="{0D108BD9-81ED-4DB2-BD59-A6C34878D82A}">
                    <a16:rowId xmlns:a16="http://schemas.microsoft.com/office/drawing/2014/main" val="2971327760"/>
                  </a:ext>
                </a:extLst>
              </a:tr>
              <a:tr h="1074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1.47</a:t>
                      </a:r>
                      <a:endParaRPr lang="en-US" sz="700" b="0" i="0" u="none" strike="noStrike">
                        <a:solidFill>
                          <a:srgbClr val="DAE3E3"/>
                        </a:solidFill>
                        <a:effectLst/>
                        <a:latin typeface="Arial Unicode MS"/>
                      </a:endParaRPr>
                    </a:p>
                  </a:txBody>
                  <a:tcPr marL="3592" marR="3592" marT="359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>
                          <a:effectLst/>
                        </a:rPr>
                        <a:t>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92" marR="3592" marT="3592" marB="0" anchor="b"/>
                </a:tc>
                <a:extLst>
                  <a:ext uri="{0D108BD9-81ED-4DB2-BD59-A6C34878D82A}">
                    <a16:rowId xmlns:a16="http://schemas.microsoft.com/office/drawing/2014/main" val="1145702603"/>
                  </a:ext>
                </a:extLst>
              </a:tr>
              <a:tr h="1074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1.45</a:t>
                      </a:r>
                      <a:endParaRPr lang="en-US" sz="700" b="0" i="0" u="none" strike="noStrike">
                        <a:solidFill>
                          <a:srgbClr val="DAE3E3"/>
                        </a:solidFill>
                        <a:effectLst/>
                        <a:latin typeface="Arial Unicode MS"/>
                      </a:endParaRPr>
                    </a:p>
                  </a:txBody>
                  <a:tcPr marL="3592" marR="3592" marT="359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>
                          <a:effectLst/>
                        </a:rPr>
                        <a:t>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92" marR="3592" marT="3592" marB="0" anchor="b"/>
                </a:tc>
                <a:extLst>
                  <a:ext uri="{0D108BD9-81ED-4DB2-BD59-A6C34878D82A}">
                    <a16:rowId xmlns:a16="http://schemas.microsoft.com/office/drawing/2014/main" val="2187747068"/>
                  </a:ext>
                </a:extLst>
              </a:tr>
              <a:tr h="1074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1.42</a:t>
                      </a:r>
                      <a:endParaRPr lang="en-US" sz="700" b="0" i="0" u="none" strike="noStrike">
                        <a:solidFill>
                          <a:srgbClr val="DAE3E3"/>
                        </a:solidFill>
                        <a:effectLst/>
                        <a:latin typeface="Arial Unicode MS"/>
                      </a:endParaRPr>
                    </a:p>
                  </a:txBody>
                  <a:tcPr marL="3592" marR="3592" marT="359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>
                          <a:effectLst/>
                        </a:rPr>
                        <a:t>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92" marR="3592" marT="3592" marB="0" anchor="b"/>
                </a:tc>
                <a:extLst>
                  <a:ext uri="{0D108BD9-81ED-4DB2-BD59-A6C34878D82A}">
                    <a16:rowId xmlns:a16="http://schemas.microsoft.com/office/drawing/2014/main" val="1649486606"/>
                  </a:ext>
                </a:extLst>
              </a:tr>
              <a:tr h="1074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1.41</a:t>
                      </a:r>
                      <a:endParaRPr lang="en-US" sz="700" b="0" i="0" u="none" strike="noStrike">
                        <a:solidFill>
                          <a:srgbClr val="DAE3E3"/>
                        </a:solidFill>
                        <a:effectLst/>
                        <a:latin typeface="Arial Unicode MS"/>
                      </a:endParaRPr>
                    </a:p>
                  </a:txBody>
                  <a:tcPr marL="3592" marR="3592" marT="359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 dirty="0">
                          <a:effectLst/>
                        </a:rPr>
                        <a:t>0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92" marR="3592" marT="3592" marB="0" anchor="b"/>
                </a:tc>
                <a:extLst>
                  <a:ext uri="{0D108BD9-81ED-4DB2-BD59-A6C34878D82A}">
                    <a16:rowId xmlns:a16="http://schemas.microsoft.com/office/drawing/2014/main" val="2777515301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3BF38FE-B2FD-B32C-270D-BD42DF1635EE}"/>
              </a:ext>
            </a:extLst>
          </p:cNvPr>
          <p:cNvCxnSpPr>
            <a:cxnSpLocks/>
          </p:cNvCxnSpPr>
          <p:nvPr/>
        </p:nvCxnSpPr>
        <p:spPr>
          <a:xfrm>
            <a:off x="7680597" y="639520"/>
            <a:ext cx="37984" cy="5577248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11813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r>
              <a:rPr lang="en-US" sz="3850"/>
              <a:t>Final remarks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DEADEEF-2BBD-C7F4-5A63-52A46D9E7C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110" y="2865141"/>
            <a:ext cx="5033221" cy="3788227"/>
          </a:xfrm>
        </p:spPr>
        <p:txBody>
          <a:bodyPr anchor="ctr">
            <a:normAutofit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800"/>
              <a:t>Project Steps:</a:t>
            </a:r>
          </a:p>
          <a:p>
            <a:pPr>
              <a:lnSpc>
                <a:spcPct val="90000"/>
              </a:lnSpc>
            </a:pPr>
            <a:r>
              <a:rPr lang="en-US" sz="1500"/>
              <a:t>Idea Generation</a:t>
            </a:r>
          </a:p>
          <a:p>
            <a:pPr>
              <a:lnSpc>
                <a:spcPct val="90000"/>
              </a:lnSpc>
            </a:pPr>
            <a:r>
              <a:rPr lang="en-US" sz="1500"/>
              <a:t>Acquired all materials</a:t>
            </a:r>
          </a:p>
          <a:p>
            <a:pPr>
              <a:lnSpc>
                <a:spcPct val="90000"/>
              </a:lnSpc>
            </a:pPr>
            <a:r>
              <a:rPr lang="en-US" sz="1500"/>
              <a:t>3D Printed and machined parts</a:t>
            </a:r>
          </a:p>
          <a:p>
            <a:pPr>
              <a:lnSpc>
                <a:spcPct val="90000"/>
              </a:lnSpc>
            </a:pPr>
            <a:r>
              <a:rPr lang="en-US" sz="1500"/>
              <a:t>Created electrical circuits</a:t>
            </a:r>
          </a:p>
          <a:p>
            <a:pPr>
              <a:lnSpc>
                <a:spcPct val="90000"/>
              </a:lnSpc>
            </a:pPr>
            <a:r>
              <a:rPr lang="en-US" sz="1500"/>
              <a:t>Assembled all parts</a:t>
            </a:r>
          </a:p>
          <a:p>
            <a:pPr>
              <a:lnSpc>
                <a:spcPct val="90000"/>
              </a:lnSpc>
            </a:pPr>
            <a:r>
              <a:rPr lang="en-US" sz="1500"/>
              <a:t>Arduino and LabVIEW for controlling and data acquisition</a:t>
            </a:r>
          </a:p>
          <a:p>
            <a:pPr>
              <a:lnSpc>
                <a:spcPct val="90000"/>
              </a:lnSpc>
            </a:pPr>
            <a:r>
              <a:rPr lang="en-US" sz="1500"/>
              <a:t>Testing yielded our flywheels to heavy for the motors to keep upright</a:t>
            </a:r>
          </a:p>
          <a:p>
            <a:pPr>
              <a:lnSpc>
                <a:spcPct val="90000"/>
              </a:lnSpc>
            </a:pPr>
            <a:r>
              <a:rPr lang="en-US" sz="1500"/>
              <a:t>3D Printed addition flywheels for demonstration purposes</a:t>
            </a:r>
          </a:p>
          <a:p>
            <a:pPr>
              <a:lnSpc>
                <a:spcPct val="90000"/>
              </a:lnSpc>
            </a:pPr>
            <a:endParaRPr lang="en-US" sz="1500"/>
          </a:p>
          <a:p>
            <a:pPr marL="0" indent="0">
              <a:lnSpc>
                <a:spcPct val="90000"/>
              </a:lnSpc>
              <a:buNone/>
            </a:pPr>
            <a:r>
              <a:rPr lang="en-US" sz="1800"/>
              <a:t>Future Steps:</a:t>
            </a:r>
          </a:p>
          <a:p>
            <a:pPr>
              <a:lnSpc>
                <a:spcPct val="90000"/>
              </a:lnSpc>
            </a:pPr>
            <a:r>
              <a:rPr lang="en-US" sz="1500"/>
              <a:t>Buy higher torqued/ powered stepper motors</a:t>
            </a:r>
          </a:p>
          <a:p>
            <a:pPr>
              <a:lnSpc>
                <a:spcPct val="90000"/>
              </a:lnSpc>
            </a:pPr>
            <a:r>
              <a:rPr lang="en-US" sz="1500"/>
              <a:t>Check stepper controller</a:t>
            </a:r>
          </a:p>
          <a:p>
            <a:pPr>
              <a:lnSpc>
                <a:spcPct val="90000"/>
              </a:lnSpc>
            </a:pPr>
            <a:r>
              <a:rPr lang="en-US" sz="1500"/>
              <a:t>Clean up setup and go into more testing</a:t>
            </a:r>
          </a:p>
          <a:p>
            <a:pPr marL="0" indent="0">
              <a:lnSpc>
                <a:spcPct val="90000"/>
              </a:lnSpc>
              <a:buNone/>
            </a:pPr>
            <a:endParaRPr lang="en-US" sz="1500"/>
          </a:p>
          <a:p>
            <a:pPr marL="0" indent="0">
              <a:lnSpc>
                <a:spcPct val="90000"/>
              </a:lnSpc>
              <a:buNone/>
            </a:pPr>
            <a:endParaRPr lang="en-US" sz="1500"/>
          </a:p>
          <a:p>
            <a:pPr>
              <a:lnSpc>
                <a:spcPct val="90000"/>
              </a:lnSpc>
            </a:pPr>
            <a:endParaRPr lang="en-US" sz="1500"/>
          </a:p>
          <a:p>
            <a:pPr>
              <a:lnSpc>
                <a:spcPct val="90000"/>
              </a:lnSpc>
            </a:pPr>
            <a:endParaRPr lang="en-US" sz="1500"/>
          </a:p>
          <a:p>
            <a:pPr>
              <a:lnSpc>
                <a:spcPct val="90000"/>
              </a:lnSpc>
            </a:pPr>
            <a:endParaRPr lang="en-US" sz="1500"/>
          </a:p>
          <a:p>
            <a:pPr>
              <a:lnSpc>
                <a:spcPct val="90000"/>
              </a:lnSpc>
            </a:pPr>
            <a:endParaRPr lang="en-US" sz="1500"/>
          </a:p>
          <a:p>
            <a:pPr>
              <a:lnSpc>
                <a:spcPct val="90000"/>
              </a:lnSpc>
            </a:pPr>
            <a:endParaRPr lang="en-US" sz="15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6" name="Graphic 15" descr="Processor">
            <a:extLst>
              <a:ext uri="{FF2B5EF4-FFF2-40B4-BE49-F238E27FC236}">
                <a16:creationId xmlns:a16="http://schemas.microsoft.com/office/drawing/2014/main" id="{B89B61C5-FAB3-3490-3B5D-ECE4A726A6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3647E-E3E7-C3F8-A38A-642D1133E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Future Work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B26CD59-F1B0-B45A-8B99-46995820B38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64623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1863</TotalTime>
  <Words>944</Words>
  <Application>Microsoft Office PowerPoint</Application>
  <PresentationFormat>On-screen Show (4:3)</PresentationFormat>
  <Paragraphs>241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Aptos Narrow</vt:lpstr>
      <vt:lpstr>Arial</vt:lpstr>
      <vt:lpstr>Arial Unicode MS</vt:lpstr>
      <vt:lpstr>Calibri</vt:lpstr>
      <vt:lpstr>Times</vt:lpstr>
      <vt:lpstr>Office Theme</vt:lpstr>
      <vt:lpstr>Gyro-Stabilized Inline Skateboard</vt:lpstr>
      <vt:lpstr>Project Background</vt:lpstr>
      <vt:lpstr>Sensor and Actuators</vt:lpstr>
      <vt:lpstr>Mathematical Background</vt:lpstr>
      <vt:lpstr>Governing Equation</vt:lpstr>
      <vt:lpstr>Block Diagram</vt:lpstr>
      <vt:lpstr>PowerPoint Presentation</vt:lpstr>
      <vt:lpstr>Design Process</vt:lpstr>
      <vt:lpstr>Mechanical Design</vt:lpstr>
      <vt:lpstr>Plate 4 Functional Block Diagram (FBD)</vt:lpstr>
      <vt:lpstr>Experimental Setup &amp; Validation</vt:lpstr>
      <vt:lpstr>Experimental Data</vt:lpstr>
      <vt:lpstr>Experimental Data</vt:lpstr>
      <vt:lpstr>Final remarks</vt:lpstr>
      <vt:lpstr>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kiden scruton</dc:creator>
  <cp:keywords/>
  <dc:description>generated using python-pptx</dc:description>
  <cp:lastModifiedBy>kiden scruton</cp:lastModifiedBy>
  <cp:revision>3</cp:revision>
  <dcterms:created xsi:type="dcterms:W3CDTF">2013-01-27T09:14:16Z</dcterms:created>
  <dcterms:modified xsi:type="dcterms:W3CDTF">2025-10-07T19:26:11Z</dcterms:modified>
  <cp:category/>
</cp:coreProperties>
</file>